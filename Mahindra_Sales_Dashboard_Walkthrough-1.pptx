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XUV700</c:v>
                </c:pt>
              </c:strCache>
            </c:strRef>
          </c:tx>
          <c:spPr>
            <a:solidFill>
              <a:srgbClr val="2F6B7A"/>
            </a:solidFill>
            <a:effectLst/>
          </c:spPr>
          <c:invertIfNegative val="0"/>
          <c:dLbls>
            <c:numFmt formatCode="0.0&quot;%&quot;" sourceLinked="0"/>
            <c:txPr>
              <a:bodyPr/>
              <a:lstStyle/>
              <a:p>
                <a:pPr>
                  <a:defRPr b="0" i="0" strike="noStrike" sz="14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Sheet1!$A$2:$A$2</c:f>
              <c:multiLvlStrCache>
                <c:ptCount val="1"/>
                <c:lvl>
                  <c:pt idx="0">
                    <c:v>Share of units</c:v>
                  </c:pt>
                </c:lvl>
              </c:multiLvlStrCache>
            </c:multiLvlStrRef>
          </c:cat>
          <c:val>
            <c:numRef>
              <c:f>Sheet1!$B$2:$B$2</c:f>
              <c:numCache>
                <c:formatCode>General</c:formatCode>
                <c:ptCount val="1"/>
                <c:pt idx="0">
                  <c:v>22.25</c:v>
                </c:pt>
              </c:numCache>
            </c:numRef>
          </c:val>
        </c:ser>
        <c:ser>
          <c:idx val="1"/>
          <c:order val="1"/>
          <c:tx>
            <c:strRef>
              <c:f>Sheet1!$C$1</c:f>
              <c:strCache>
                <c:ptCount val="1"/>
                <c:pt idx="0">
                  <c:v>XUV 3XO</c:v>
                </c:pt>
              </c:strCache>
            </c:strRef>
          </c:tx>
          <c:spPr>
            <a:solidFill>
              <a:srgbClr val="C8102E"/>
            </a:solidFill>
            <a:effectLst/>
          </c:spPr>
          <c:invertIfNegative val="0"/>
          <c:dLbls>
            <c:numFmt formatCode="0.0&quot;%&quot;" sourceLinked="0"/>
            <c:txPr>
              <a:bodyPr/>
              <a:lstStyle/>
              <a:p>
                <a:pPr>
                  <a:defRPr b="0" i="0" strike="noStrike" sz="14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Sheet1!$A$2:$A$2</c:f>
              <c:multiLvlStrCache>
                <c:ptCount val="1"/>
                <c:lvl>
                  <c:pt idx="0">
                    <c:v>Share of units</c:v>
                  </c:pt>
                </c:lvl>
              </c:multiLvlStrCache>
            </c:multiLvlStrRef>
          </c:cat>
          <c:val>
            <c:numRef>
              <c:f>Sheet1!$C$2:$C$2</c:f>
              <c:numCache>
                <c:formatCode>General</c:formatCode>
                <c:ptCount val="1"/>
                <c:pt idx="0">
                  <c:v>20.19</c:v>
                </c:pt>
              </c:numCache>
            </c:numRef>
          </c:val>
        </c:ser>
        <c:ser>
          <c:idx val="2"/>
          <c:order val="2"/>
          <c:tx>
            <c:strRef>
              <c:f>Sheet1!$D$1</c:f>
              <c:strCache>
                <c:ptCount val="1"/>
                <c:pt idx="0">
                  <c:v>Scorpio-N</c:v>
                </c:pt>
              </c:strCache>
            </c:strRef>
          </c:tx>
          <c:spPr>
            <a:solidFill>
              <a:srgbClr val="6B4FA0"/>
            </a:solidFill>
            <a:effectLst/>
          </c:spPr>
          <c:invertIfNegative val="0"/>
          <c:dLbls>
            <c:numFmt formatCode="0.0&quot;%&quot;" sourceLinked="0"/>
            <c:txPr>
              <a:bodyPr/>
              <a:lstStyle/>
              <a:p>
                <a:pPr>
                  <a:defRPr b="0" i="0" strike="noStrike" sz="14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Sheet1!$A$2:$A$2</c:f>
              <c:multiLvlStrCache>
                <c:ptCount val="1"/>
                <c:lvl>
                  <c:pt idx="0">
                    <c:v>Share of units</c:v>
                  </c:pt>
                </c:lvl>
              </c:multiLvlStrCache>
            </c:multiLvlStrRef>
          </c:cat>
          <c:val>
            <c:numRef>
              <c:f>Sheet1!$D$2:$D$2</c:f>
              <c:numCache>
                <c:formatCode>General</c:formatCode>
                <c:ptCount val="1"/>
                <c:pt idx="0">
                  <c:v>19.99</c:v>
                </c:pt>
              </c:numCache>
            </c:numRef>
          </c:val>
        </c:ser>
        <c:ser>
          <c:idx val="3"/>
          <c:order val="3"/>
          <c:tx>
            <c:strRef>
              <c:f>Sheet1!$E$1</c:f>
              <c:strCache>
                <c:ptCount val="1"/>
                <c:pt idx="0">
                  <c:v>Bolero</c:v>
                </c:pt>
              </c:strCache>
            </c:strRef>
          </c:tx>
          <c:spPr>
            <a:solidFill>
              <a:srgbClr val="1F2A8A"/>
            </a:solidFill>
            <a:effectLst/>
          </c:spPr>
          <c:invertIfNegative val="0"/>
          <c:dLbls>
            <c:numFmt formatCode="0.0&quot;%&quot;" sourceLinked="0"/>
            <c:txPr>
              <a:bodyPr/>
              <a:lstStyle/>
              <a:p>
                <a:pPr>
                  <a:defRPr b="0" i="0" strike="noStrike" sz="14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Sheet1!$A$2:$A$2</c:f>
              <c:multiLvlStrCache>
                <c:ptCount val="1"/>
                <c:lvl>
                  <c:pt idx="0">
                    <c:v>Share of units</c:v>
                  </c:pt>
                </c:lvl>
              </c:multiLvlStrCache>
            </c:multiLvlStrRef>
          </c:cat>
          <c:val>
            <c:numRef>
              <c:f>Sheet1!$E$2:$E$2</c:f>
              <c:numCache>
                <c:formatCode>General</c:formatCode>
                <c:ptCount val="1"/>
                <c:pt idx="0">
                  <c:v>19.05</c:v>
                </c:pt>
              </c:numCache>
            </c:numRef>
          </c:val>
        </c:ser>
        <c:ser>
          <c:idx val="4"/>
          <c:order val="4"/>
          <c:tx>
            <c:strRef>
              <c:f>Sheet1!$F$1</c:f>
              <c:strCache>
                <c:ptCount val="1"/>
                <c:pt idx="0">
                  <c:v>Thar</c:v>
                </c:pt>
              </c:strCache>
            </c:strRef>
          </c:tx>
          <c:spPr>
            <a:solidFill>
              <a:srgbClr val="B7791F"/>
            </a:solidFill>
            <a:effectLst/>
          </c:spPr>
          <c:invertIfNegative val="0"/>
          <c:dLbls>
            <c:numFmt formatCode="0.0&quot;%&quot;" sourceLinked="0"/>
            <c:txPr>
              <a:bodyPr/>
              <a:lstStyle/>
              <a:p>
                <a:pPr>
                  <a:defRPr b="0" i="0" strike="noStrike" sz="14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Sheet1!$A$2:$A$2</c:f>
              <c:multiLvlStrCache>
                <c:ptCount val="1"/>
                <c:lvl>
                  <c:pt idx="0">
                    <c:v>Share of units</c:v>
                  </c:pt>
                </c:lvl>
              </c:multiLvlStrCache>
            </c:multiLvlStrRef>
          </c:cat>
          <c:val>
            <c:numRef>
              <c:f>Sheet1!$F$2:$F$2</c:f>
              <c:numCache>
                <c:formatCode>General</c:formatCode>
                <c:ptCount val="1"/>
                <c:pt idx="0">
                  <c:v>18.52</c:v>
                </c:pt>
              </c:numCache>
            </c:numRef>
          </c:val>
        </c:ser>
        <c:dLbls>
          <c:numFmt formatCode="0.0&quot;%&quot;" sourceLinked="0"/>
          <c:txPr>
            <a:bodyPr/>
            <a:lstStyle/>
            <a:p>
              <a:pPr>
                <a:defRPr b="0" i="0" strike="noStrike" sz="1400" u="none">
                  <a:solidFill>
                    <a:srgbClr val="FFFFFF"/>
                  </a:solidFill>
                  <a:latin typeface="Calibri"/>
                </a:defRPr>
              </a:pPr>
            </a:p>
          </c:txPr>
          <c:dLblPos val="ctr"/>
          <c:showLegendKey val="0"/>
          <c:showVal val="1"/>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74151"/>
                </a:solidFill>
                <a:latin typeface="Calibri"/>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374151"/>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Sales records</c:v>
                </c:pt>
              </c:strCache>
            </c:strRef>
          </c:tx>
          <c:spPr>
            <a:solidFill>
              <a:srgbClr val="C8102E"/>
            </a:solidFill>
            <a:effectLst/>
          </c:spPr>
          <c:invertIfNegative val="0"/>
          <c:dLbls>
            <c:numFmt formatCode="#,##0" sourceLinked="0"/>
            <c:txPr>
              <a:bodyPr/>
              <a:lstStyle/>
              <a:p>
                <a:pPr>
                  <a:defRPr b="0" i="0" strike="noStrike" sz="1100" u="none">
                    <a:solidFill>
                      <a:srgbClr val="1B1F24"/>
                    </a:solidFill>
                    <a:latin typeface="Calibri"/>
                  </a:defRPr>
                </a:pPr>
              </a:p>
            </c:txPr>
            <c:showLegendKey val="0"/>
            <c:showVal val="1"/>
            <c:showCatName val="0"/>
            <c:showSerName val="0"/>
            <c:showPercent val="0"/>
            <c:showBubbleSize val="0"/>
            <c:showLeaderLines val="0"/>
          </c:dLbls>
          <c:dPt>
            <c:idx val="0"/>
            <c:invertIfNegative val="0"/>
            <c:bubble3D val="0"/>
            <c:spPr>
              <a:solidFill>
                <a:srgbClr val="C8102E"/>
              </a:solidFill>
              <a:effectLst/>
            </c:spPr>
          </c:dPt>
          <c:dPt>
            <c:idx val="1"/>
            <c:invertIfNegative val="0"/>
            <c:bubble3D val="0"/>
            <c:spPr>
              <a:solidFill>
                <a:srgbClr val="2F6B7A"/>
              </a:solidFill>
              <a:effectLst/>
            </c:spPr>
          </c:dPt>
          <c:dPt>
            <c:idx val="2"/>
            <c:invertIfNegative val="0"/>
            <c:bubble3D val="0"/>
            <c:spPr>
              <a:solidFill>
                <a:srgbClr val="2F6B7A"/>
              </a:solidFill>
              <a:effectLst/>
            </c:spPr>
          </c:dPt>
          <c:dPt>
            <c:idx val="3"/>
            <c:invertIfNegative val="0"/>
            <c:bubble3D val="0"/>
            <c:spPr>
              <a:solidFill>
                <a:srgbClr val="2F6B7A"/>
              </a:solidFill>
              <a:effectLst/>
            </c:spPr>
          </c:dPt>
          <c:dPt>
            <c:idx val="4"/>
            <c:invertIfNegative val="0"/>
            <c:bubble3D val="0"/>
            <c:spPr>
              <a:solidFill>
                <a:srgbClr val="2F6B7A"/>
              </a:solidFill>
              <a:effectLst/>
            </c:spPr>
          </c:dPt>
          <c:dPt>
            <c:idx val="5"/>
            <c:invertIfNegative val="0"/>
            <c:bubble3D val="0"/>
            <c:spPr>
              <a:solidFill>
                <a:srgbClr val="2F6B7A"/>
              </a:solidFill>
              <a:effectLst/>
            </c:spPr>
          </c:dPt>
          <c:dPt>
            <c:idx val="6"/>
            <c:invertIfNegative val="0"/>
            <c:bubble3D val="0"/>
            <c:spPr>
              <a:solidFill>
                <a:srgbClr val="2F6B7A"/>
              </a:solidFill>
              <a:effectLst/>
            </c:spPr>
          </c:dPt>
          <c:dPt>
            <c:idx val="7"/>
            <c:invertIfNegative val="0"/>
            <c:bubble3D val="0"/>
            <c:spPr>
              <a:solidFill>
                <a:srgbClr val="2F6B7A"/>
              </a:solidFill>
              <a:effectLst/>
            </c:spPr>
          </c:dPt>
          <c:dPt>
            <c:idx val="8"/>
            <c:invertIfNegative val="0"/>
            <c:bubble3D val="0"/>
            <c:spPr>
              <a:solidFill>
                <a:srgbClr val="2F6B7A"/>
              </a:solidFill>
              <a:effectLst/>
            </c:spPr>
          </c:dPt>
          <c:dPt>
            <c:idx val="9"/>
            <c:invertIfNegative val="0"/>
            <c:bubble3D val="0"/>
            <c:spPr>
              <a:solidFill>
                <a:srgbClr val="9CA3AF"/>
              </a:solidFill>
              <a:effectLst/>
            </c:spPr>
          </c:dPt>
          <c:cat>
            <c:multiLvlStrRef>
              <c:f>Sheet1!$A$2:$A$11</c:f>
              <c:multiLvlStrCache>
                <c:ptCount val="10"/>
                <c:lvl>
                  <c:pt idx="0">
                    <c:v>XUV700</c:v>
                  </c:pt>
                  <c:pt idx="1">
                    <c:v>YUVO TECH+</c:v>
                  </c:pt>
                  <c:pt idx="2">
                    <c:v>Bolero Neo</c:v>
                  </c:pt>
                  <c:pt idx="3">
                    <c:v>XUV 3XO</c:v>
                  </c:pt>
                  <c:pt idx="4">
                    <c:v>JIVO</c:v>
                  </c:pt>
                  <c:pt idx="5">
                    <c:v>NOVO</c:v>
                  </c:pt>
                  <c:pt idx="6">
                    <c:v>ARJUN</c:v>
                  </c:pt>
                  <c:pt idx="7">
                    <c:v>Scorpio-N</c:v>
                  </c:pt>
                  <c:pt idx="8">
                    <c:v>Thar</c:v>
                  </c:pt>
                  <c:pt idx="9">
                    <c:v>Bolero</c:v>
                  </c:pt>
                </c:lvl>
              </c:multiLvlStrCache>
            </c:multiLvlStrRef>
          </c:cat>
          <c:val>
            <c:numRef>
              <c:f>Sheet1!$B$2:$B$11</c:f>
              <c:numCache>
                <c:formatCode>General</c:formatCode>
                <c:ptCount val="10"/>
                <c:pt idx="0">
                  <c:v>116</c:v>
                </c:pt>
                <c:pt idx="1">
                  <c:v>111</c:v>
                </c:pt>
                <c:pt idx="2">
                  <c:v>104</c:v>
                </c:pt>
                <c:pt idx="3">
                  <c:v>100</c:v>
                </c:pt>
                <c:pt idx="4">
                  <c:v>99</c:v>
                </c:pt>
                <c:pt idx="5">
                  <c:v>97</c:v>
                </c:pt>
                <c:pt idx="6">
                  <c:v>96</c:v>
                </c:pt>
                <c:pt idx="7">
                  <c:v>95</c:v>
                </c:pt>
                <c:pt idx="8">
                  <c:v>94</c:v>
                </c:pt>
                <c:pt idx="9">
                  <c:v>90</c:v>
                </c:pt>
              </c:numCache>
            </c:numRef>
          </c:val>
        </c:ser>
        <c:dLbls>
          <c:numFmt formatCode="#,##0" sourceLinked="0"/>
          <c:txPr>
            <a:bodyPr/>
            <a:lstStyle/>
            <a:p>
              <a:pPr>
                <a:defRPr b="0" i="0" strike="noStrike" sz="1100" u="none">
                  <a:solidFill>
                    <a:srgbClr val="1B1F24"/>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100" b="0" i="0" u="none" strike="noStrike">
                <a:solidFill>
                  <a:srgbClr val="374151"/>
                </a:solidFill>
                <a:latin typeface="Calibri"/>
              </a:defRPr>
            </a:pPr>
            <a:endParaRPr lang="en-US"/>
          </a:p>
        </c:txPr>
        <c:crossAx val="2094734552"/>
        <c:crosses val="autoZero"/>
        <c:auto val="1"/>
        <c:lblAlgn val="ctr"/>
        <c:noMultiLvlLbl val="1"/>
      </c:catAx>
      <c:valAx>
        <c:axId val="2094734552"/>
        <c:scaling>
          <c:orientation val="minMax"/>
          <c:max val="130"/>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Payment</c:v>
                </c:pt>
              </c:strCache>
            </c:strRef>
          </c:tx>
          <c:spPr>
            <a:solidFill>
              <a:schemeClr val="accent1"/>
            </a:solidFill>
            <a:ln w="9525" cap="flat">
              <a:solidFill>
                <a:srgbClr val="F9F9F9"/>
              </a:solidFill>
              <a:prstDash val="solid"/>
              <a:round/>
            </a:ln>
            <a:effectLst/>
          </c:spPr>
          <c:dPt>
            <c:idx val="0"/>
            <c:bubble3D val="0"/>
            <c:spPr>
              <a:solidFill>
                <a:srgbClr val="C8102E"/>
              </a:solidFill>
              <a:effectLst/>
            </c:spPr>
          </c:dPt>
          <c:dPt>
            <c:idx val="1"/>
            <c:bubble3D val="0"/>
            <c:spPr>
              <a:solidFill>
                <a:srgbClr val="1B1F24"/>
              </a:solidFill>
              <a:effectLst/>
            </c:spPr>
          </c:dPt>
          <c:dPt>
            <c:idx val="2"/>
            <c:bubble3D val="0"/>
            <c:spPr>
              <a:solidFill>
                <a:srgbClr val="2F6B7A"/>
              </a:solidFill>
              <a:effectLst/>
            </c:spPr>
          </c:dPt>
          <c:dPt>
            <c:idx val="3"/>
            <c:bubble3D val="0"/>
            <c:spPr>
              <a:solidFill>
                <a:srgbClr val="B7791F"/>
              </a:solidFill>
              <a:effectLst/>
            </c:spPr>
          </c:dPt>
          <c:dPt>
            <c:idx val="4"/>
            <c:bubble3D val="0"/>
            <c:spPr>
              <a:solidFill>
                <a:srgbClr val="64748B"/>
              </a:solidFill>
              <a:effectLst/>
            </c:spPr>
          </c:dPt>
          <c:dLbls>
            <c:dLbl>
              <c:idx val="0"/>
              <c:numFmt formatCode="0.0%" sourceLinked="0"/>
              <c:spPr/>
              <c:txPr>
                <a:bodyPr/>
                <a:lstStyle/>
                <a:p>
                  <a:pPr>
                    <a:defRPr sz="1200" b="0" i="0" u="none" strike="noStrike">
                      <a:solidFill>
                        <a:srgbClr val="FFFFFF"/>
                      </a:solidFill>
                      <a:latin typeface="Calibri"/>
                    </a:defRPr>
                  </a:pPr>
                </a:p>
              </c:txPr>
              <c:showLegendKey val="0"/>
              <c:showVal val="0"/>
              <c:showCatName val="0"/>
              <c:showSerName val="0"/>
              <c:showPercent val="1"/>
              <c:showBubbleSize val="0"/>
            </c:dLbl>
            <c:dLbl>
              <c:idx val="1"/>
              <c:numFmt formatCode="0.0%" sourceLinked="0"/>
              <c:spPr/>
              <c:txPr>
                <a:bodyPr/>
                <a:lstStyle/>
                <a:p>
                  <a:pPr>
                    <a:defRPr sz="1200" b="0" i="0" u="none" strike="noStrike">
                      <a:solidFill>
                        <a:srgbClr val="FFFFFF"/>
                      </a:solidFill>
                      <a:latin typeface="Calibri"/>
                    </a:defRPr>
                  </a:pPr>
                </a:p>
              </c:txPr>
              <c:showLegendKey val="0"/>
              <c:showVal val="0"/>
              <c:showCatName val="0"/>
              <c:showSerName val="0"/>
              <c:showPercent val="1"/>
              <c:showBubbleSize val="0"/>
            </c:dLbl>
            <c:dLbl>
              <c:idx val="2"/>
              <c:numFmt formatCode="0.0%" sourceLinked="0"/>
              <c:spPr/>
              <c:txPr>
                <a:bodyPr/>
                <a:lstStyle/>
                <a:p>
                  <a:pPr>
                    <a:defRPr sz="1200" b="0" i="0" u="none" strike="noStrike">
                      <a:solidFill>
                        <a:srgbClr val="FFFFFF"/>
                      </a:solidFill>
                      <a:latin typeface="Calibri"/>
                    </a:defRPr>
                  </a:pPr>
                </a:p>
              </c:txPr>
              <c:showLegendKey val="0"/>
              <c:showVal val="0"/>
              <c:showCatName val="0"/>
              <c:showSerName val="0"/>
              <c:showPercent val="1"/>
              <c:showBubbleSize val="0"/>
            </c:dLbl>
            <c:dLbl>
              <c:idx val="3"/>
              <c:numFmt formatCode="0.0%" sourceLinked="0"/>
              <c:spPr/>
              <c:txPr>
                <a:bodyPr/>
                <a:lstStyle/>
                <a:p>
                  <a:pPr>
                    <a:defRPr sz="1200" b="0" i="0" u="none" strike="noStrike">
                      <a:solidFill>
                        <a:srgbClr val="FFFFFF"/>
                      </a:solidFill>
                      <a:latin typeface="Calibri"/>
                    </a:defRPr>
                  </a:pPr>
                </a:p>
              </c:txPr>
              <c:showLegendKey val="0"/>
              <c:showVal val="0"/>
              <c:showCatName val="0"/>
              <c:showSerName val="0"/>
              <c:showPercent val="1"/>
              <c:showBubbleSize val="0"/>
            </c:dLbl>
            <c:dLbl>
              <c:idx val="4"/>
              <c:numFmt formatCode="0.0%" sourceLinked="0"/>
              <c:spPr/>
              <c:txPr>
                <a:bodyPr/>
                <a:lstStyle/>
                <a:p>
                  <a:pPr>
                    <a:defRPr sz="1200" b="0" i="0" u="none" strike="noStrike">
                      <a:solidFill>
                        <a:srgbClr val="FFFFFF"/>
                      </a:solidFill>
                      <a:latin typeface="Calibri"/>
                    </a:defRPr>
                  </a:pPr>
                </a:p>
              </c:txPr>
              <c:showLegendKey val="0"/>
              <c:showVal val="0"/>
              <c:showCatName val="0"/>
              <c:showSerName val="0"/>
              <c:showPercent val="1"/>
              <c:showBubbleSize val="0"/>
            </c:dLbl>
            <c:numFmt formatCode="0.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Bank Finance</c:v>
                </c:pt>
                <c:pt idx="1">
                  <c:v>UPI</c:v>
                </c:pt>
                <c:pt idx="2">
                  <c:v>Cash</c:v>
                </c:pt>
                <c:pt idx="3">
                  <c:v>Credit Card</c:v>
                </c:pt>
                <c:pt idx="4">
                  <c:v>Debit Card</c:v>
                </c:pt>
              </c:strCache>
            </c:strRef>
          </c:cat>
          <c:val>
            <c:numRef>
              <c:f>Sheet1!$B$2:$B$6</c:f>
              <c:numCache>
                <c:ptCount val="5"/>
                <c:pt idx="0">
                  <c:v>214</c:v>
                </c:pt>
                <c:pt idx="1">
                  <c:v>213</c:v>
                </c:pt>
                <c:pt idx="2">
                  <c:v>206</c:v>
                </c:pt>
                <c:pt idx="3">
                  <c:v>196</c:v>
                </c:pt>
                <c:pt idx="4">
                  <c:v>171</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Discount records</c:v>
                </c:pt>
              </c:strCache>
            </c:strRef>
          </c:tx>
          <c:spPr>
            <a:solidFill>
              <a:srgbClr val="C8102E"/>
            </a:solidFill>
            <a:effectLst/>
          </c:spPr>
          <c:invertIfNegative val="0"/>
          <c:dLbls>
            <c:numFmt formatCode="#,##0" sourceLinked="0"/>
            <c:txPr>
              <a:bodyPr/>
              <a:lstStyle/>
              <a:p>
                <a:pPr>
                  <a:defRPr b="0" i="0" strike="noStrike" sz="1100" u="none">
                    <a:solidFill>
                      <a:srgbClr val="1B1F24"/>
                    </a:solidFill>
                    <a:latin typeface="Calibri"/>
                  </a:defRPr>
                </a:pPr>
              </a:p>
            </c:txPr>
            <c:showLegendKey val="0"/>
            <c:showVal val="1"/>
            <c:showCatName val="0"/>
            <c:showSerName val="0"/>
            <c:showPercent val="0"/>
            <c:showBubbleSize val="0"/>
            <c:showLeaderLines val="0"/>
          </c:dLbls>
          <c:dPt>
            <c:idx val="0"/>
            <c:invertIfNegative val="0"/>
            <c:bubble3D val="0"/>
            <c:spPr>
              <a:solidFill>
                <a:srgbClr val="C8102E"/>
              </a:solidFill>
              <a:effectLst/>
            </c:spPr>
          </c:dPt>
          <c:dPt>
            <c:idx val="1"/>
            <c:invertIfNegative val="0"/>
            <c:bubble3D val="0"/>
            <c:spPr>
              <a:solidFill>
                <a:srgbClr val="2F6B7A"/>
              </a:solidFill>
              <a:effectLst/>
            </c:spPr>
          </c:dPt>
          <c:dPt>
            <c:idx val="2"/>
            <c:invertIfNegative val="0"/>
            <c:bubble3D val="0"/>
            <c:spPr>
              <a:solidFill>
                <a:srgbClr val="2F6B7A"/>
              </a:solidFill>
              <a:effectLst/>
            </c:spPr>
          </c:dPt>
          <c:dPt>
            <c:idx val="3"/>
            <c:invertIfNegative val="0"/>
            <c:bubble3D val="0"/>
            <c:spPr>
              <a:solidFill>
                <a:srgbClr val="2F6B7A"/>
              </a:solidFill>
              <a:effectLst/>
            </c:spPr>
          </c:dPt>
          <c:dPt>
            <c:idx val="4"/>
            <c:invertIfNegative val="0"/>
            <c:bubble3D val="0"/>
            <c:spPr>
              <a:solidFill>
                <a:srgbClr val="2F6B7A"/>
              </a:solidFill>
              <a:effectLst/>
            </c:spPr>
          </c:dPt>
          <c:dPt>
            <c:idx val="5"/>
            <c:invertIfNegative val="0"/>
            <c:bubble3D val="0"/>
            <c:spPr>
              <a:solidFill>
                <a:srgbClr val="2F6B7A"/>
              </a:solidFill>
              <a:effectLst/>
            </c:spPr>
          </c:dPt>
          <c:dPt>
            <c:idx val="6"/>
            <c:invertIfNegative val="0"/>
            <c:bubble3D val="0"/>
            <c:spPr>
              <a:solidFill>
                <a:srgbClr val="2F6B7A"/>
              </a:solidFill>
              <a:effectLst/>
            </c:spPr>
          </c:dPt>
          <c:dPt>
            <c:idx val="7"/>
            <c:invertIfNegative val="0"/>
            <c:bubble3D val="0"/>
            <c:spPr>
              <a:solidFill>
                <a:srgbClr val="2F6B7A"/>
              </a:solidFill>
              <a:effectLst/>
            </c:spPr>
          </c:dPt>
          <c:cat>
            <c:multiLvlStrRef>
              <c:f>Sheet1!$A$2:$A$9</c:f>
              <c:multiLvlStrCache>
                <c:ptCount val="8"/>
                <c:lvl>
                  <c:pt idx="0">
                    <c:v>Lucknow</c:v>
                  </c:pt>
                  <c:pt idx="1">
                    <c:v>Delhi</c:v>
                  </c:pt>
                  <c:pt idx="2">
                    <c:v>Hyderabad</c:v>
                  </c:pt>
                  <c:pt idx="3">
                    <c:v>Mumbai</c:v>
                  </c:pt>
                  <c:pt idx="4">
                    <c:v>Patna</c:v>
                  </c:pt>
                  <c:pt idx="5">
                    <c:v>Chandigarh</c:v>
                  </c:pt>
                  <c:pt idx="6">
                    <c:v>Pune</c:v>
                  </c:pt>
                  <c:pt idx="7">
                    <c:v>Ahmedabad</c:v>
                  </c:pt>
                </c:lvl>
              </c:multiLvlStrCache>
            </c:multiLvlStrRef>
          </c:cat>
          <c:val>
            <c:numRef>
              <c:f>Sheet1!$B$2:$B$9</c:f>
              <c:numCache>
                <c:formatCode>General</c:formatCode>
                <c:ptCount val="8"/>
                <c:pt idx="0">
                  <c:v>104</c:v>
                </c:pt>
                <c:pt idx="1">
                  <c:v>101</c:v>
                </c:pt>
                <c:pt idx="2">
                  <c:v>94</c:v>
                </c:pt>
                <c:pt idx="3">
                  <c:v>84</c:v>
                </c:pt>
                <c:pt idx="4">
                  <c:v>82</c:v>
                </c:pt>
                <c:pt idx="5">
                  <c:v>81</c:v>
                </c:pt>
                <c:pt idx="6">
                  <c:v>79</c:v>
                </c:pt>
                <c:pt idx="7">
                  <c:v>77</c:v>
                </c:pt>
              </c:numCache>
            </c:numRef>
          </c:val>
        </c:ser>
        <c:dLbls>
          <c:numFmt formatCode="#,##0" sourceLinked="0"/>
          <c:txPr>
            <a:bodyPr/>
            <a:lstStyle/>
            <a:p>
              <a:pPr>
                <a:defRPr b="0" i="0" strike="noStrike" sz="1100" u="none">
                  <a:solidFill>
                    <a:srgbClr val="1B1F24"/>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74151"/>
                </a:solidFill>
                <a:latin typeface="Calibri"/>
              </a:defRPr>
            </a:pPr>
            <a:endParaRPr lang="en-US"/>
          </a:p>
        </c:txPr>
        <c:crossAx val="2094734552"/>
        <c:crosses val="autoZero"/>
        <c:auto val="1"/>
        <c:lblAlgn val="ctr"/>
        <c:noMultiLvlLbl val="1"/>
      </c:catAx>
      <c:valAx>
        <c:axId val="2094734552"/>
        <c:scaling>
          <c:orientation val="minMax"/>
          <c:max val="12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Total sale value (M INR)</c:v>
                </c:pt>
              </c:strCache>
            </c:strRef>
          </c:tx>
          <c:spPr>
            <a:solidFill>
              <a:srgbClr val="C8102E"/>
            </a:solidFill>
            <a:ln w="38100" cap="flat">
              <a:solidFill>
                <a:srgbClr val="C8102E"/>
              </a:solidFill>
              <a:prstDash val="solid"/>
              <a:round/>
            </a:ln>
            <a:effectLst/>
          </c:spPr>
          <c:invertIfNegative val="0"/>
          <c:dLbls>
            <c:numFmt formatCode="#,##0" sourceLinked="0"/>
            <c:txPr>
              <a:bodyPr/>
              <a:lstStyle/>
              <a:p>
                <a:pPr>
                  <a:defRPr b="0" i="0" strike="noStrike" sz="1100" u="none">
                    <a:solidFill>
                      <a:srgbClr val="1B1F24"/>
                    </a:solidFill>
                    <a:latin typeface="Calibri"/>
                  </a:defRPr>
                </a:pPr>
              </a:p>
            </c:txPr>
            <c:showLegendKey val="0"/>
            <c:showVal val="0"/>
            <c:showCatName val="0"/>
            <c:showSerName val="0"/>
            <c:showPercent val="0"/>
            <c:showBubbleSize val="0"/>
            <c:showLeaderLines val="0"/>
          </c:dLbls>
          <c:marker>
            <c:symbol val="circle"/>
            <c:size val="7"/>
            <c:spPr>
              <a:solidFill>
                <a:srgbClr val="C8102E"/>
              </a:solidFill>
              <a:ln w="9525" cap="flat">
                <a:solidFill>
                  <a:srgbClr val="C8102E"/>
                </a:solidFill>
                <a:prstDash val="solid"/>
                <a:round/>
              </a:ln>
              <a:effectLst/>
            </c:spPr>
          </c:marker>
          <c:cat>
            <c:multiLvlStrRef>
              <c:f>Sheet1!$A$2:$A$13</c:f>
              <c:multiLvlStrCache>
                <c:ptCount val="12"/>
                <c:lvl>
                  <c:pt idx="0">
                    <c:v>Lucknow</c:v>
                  </c:pt>
                  <c:pt idx="1">
                    <c:v>Delhi</c:v>
                  </c:pt>
                  <c:pt idx="2">
                    <c:v>Mumbai</c:v>
                  </c:pt>
                  <c:pt idx="3">
                    <c:v>Jaipur</c:v>
                  </c:pt>
                  <c:pt idx="4">
                    <c:v>Hyderabad</c:v>
                  </c:pt>
                  <c:pt idx="5">
                    <c:v>Patna</c:v>
                  </c:pt>
                  <c:pt idx="6">
                    <c:v>Chandigarh</c:v>
                  </c:pt>
                  <c:pt idx="7">
                    <c:v>Pune</c:v>
                  </c:pt>
                  <c:pt idx="8">
                    <c:v>Bhopal</c:v>
                  </c:pt>
                  <c:pt idx="9">
                    <c:v>Ahmedabad</c:v>
                  </c:pt>
                  <c:pt idx="10">
                    <c:v>Bengaluru</c:v>
                  </c:pt>
                  <c:pt idx="11">
                    <c:v>Indore</c:v>
                  </c:pt>
                </c:lvl>
              </c:multiLvlStrCache>
            </c:multiLvlStrRef>
          </c:cat>
          <c:val>
            <c:numRef>
              <c:f>Sheet1!$B$2:$B$13</c:f>
              <c:numCache>
                <c:formatCode>General</c:formatCode>
                <c:ptCount val="12"/>
                <c:pt idx="0">
                  <c:v>140</c:v>
                </c:pt>
                <c:pt idx="1">
                  <c:v>134</c:v>
                </c:pt>
                <c:pt idx="2">
                  <c:v>132</c:v>
                </c:pt>
                <c:pt idx="3">
                  <c:v>127</c:v>
                </c:pt>
                <c:pt idx="4">
                  <c:v>122</c:v>
                </c:pt>
                <c:pt idx="5">
                  <c:v>121</c:v>
                </c:pt>
                <c:pt idx="6">
                  <c:v>113</c:v>
                </c:pt>
                <c:pt idx="7">
                  <c:v>108</c:v>
                </c:pt>
                <c:pt idx="8">
                  <c:v>103</c:v>
                </c:pt>
                <c:pt idx="9">
                  <c:v>103</c:v>
                </c:pt>
                <c:pt idx="10">
                  <c:v>102</c:v>
                </c:pt>
                <c:pt idx="11">
                  <c:v>98</c:v>
                </c:pt>
              </c:numCache>
            </c:numRef>
          </c:val>
          <c:smooth val="0"/>
        </c:ser>
        <c:dLbls>
          <c:numFmt formatCode="#,##0" sourceLinked="0"/>
          <c:txPr>
            <a:bodyPr/>
            <a:lstStyle/>
            <a:p>
              <a:pPr>
                <a:defRPr b="0" i="0" strike="noStrike" sz="1100" u="none">
                  <a:solidFill>
                    <a:srgbClr val="1B1F24"/>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1100" b="0" i="0" u="none" strike="noStrike">
                <a:solidFill>
                  <a:srgbClr val="374151"/>
                </a:solidFill>
                <a:latin typeface="Calibri"/>
              </a:defRPr>
            </a:pPr>
            <a:endParaRPr lang="en-US"/>
          </a:p>
        </c:txPr>
        <c:crossAx val="2094734552"/>
        <c:crosses val="autoZero"/>
        <c:auto val="1"/>
        <c:lblAlgn val="ctr"/>
        <c:noMultiLvlLbl val="1"/>
      </c:catAx>
      <c:valAx>
        <c:axId val="2094734552"/>
        <c:scaling>
          <c:orientation val="minMax"/>
          <c:max val="150"/>
          <c:min val="80"/>
        </c:scaling>
        <c:delete val="0"/>
        <c:axPos val="l"/>
        <c:majorGridlines>
          <c:spPr>
            <a:ln w="9525" cap="flat">
              <a:solidFill>
                <a:srgbClr val="E5E7EB"/>
              </a:solidFill>
              <a:prstDash val="solid"/>
              <a:round/>
            </a:ln>
          </c:spPr>
        </c:majorGridlines>
        <c:numFmt formatCode="0&quot;M&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Category</c:v>
                </c:pt>
              </c:strCache>
            </c:strRef>
          </c:tx>
          <c:spPr>
            <a:solidFill>
              <a:schemeClr val="accent1"/>
            </a:solidFill>
            <a:ln w="9525" cap="flat">
              <a:solidFill>
                <a:srgbClr val="F9F9F9"/>
              </a:solidFill>
              <a:prstDash val="solid"/>
              <a:round/>
            </a:ln>
            <a:effectLst/>
          </c:spPr>
          <c:dPt>
            <c:idx val="0"/>
            <c:bubble3D val="0"/>
            <c:spPr>
              <a:solidFill>
                <a:srgbClr val="C8102E"/>
              </a:solidFill>
              <a:effectLst/>
            </c:spPr>
          </c:dPt>
          <c:dPt>
            <c:idx val="1"/>
            <c:bubble3D val="0"/>
            <c:spPr>
              <a:solidFill>
                <a:srgbClr val="1B1F24"/>
              </a:solidFill>
              <a:effectLst/>
            </c:spPr>
          </c:dPt>
          <c:dLbls>
            <c:dLbl>
              <c:idx val="0"/>
              <c:numFmt formatCode="0.0%" sourceLinked="0"/>
              <c:spPr/>
              <c:txPr>
                <a:bodyPr/>
                <a:lstStyle/>
                <a:p>
                  <a:pPr>
                    <a:defRPr sz="1600" b="0" i="0" u="none" strike="noStrike">
                      <a:solidFill>
                        <a:srgbClr val="FFFFFF"/>
                      </a:solidFill>
                      <a:latin typeface="Calibri"/>
                    </a:defRPr>
                  </a:pPr>
                </a:p>
              </c:txPr>
              <c:showLegendKey val="0"/>
              <c:showVal val="0"/>
              <c:showCatName val="0"/>
              <c:showSerName val="0"/>
              <c:showPercent val="1"/>
              <c:showBubbleSize val="0"/>
            </c:dLbl>
            <c:dLbl>
              <c:idx val="1"/>
              <c:numFmt formatCode="0.0%" sourceLinked="0"/>
              <c:spPr/>
              <c:txPr>
                <a:bodyPr/>
                <a:lstStyle/>
                <a:p>
                  <a:pPr>
                    <a:defRPr sz="1600" b="0" i="0" u="none" strike="noStrike">
                      <a:solidFill>
                        <a:srgbClr val="FFFFFF"/>
                      </a:solidFill>
                      <a:latin typeface="Calibri"/>
                    </a:defRPr>
                  </a:pPr>
                </a:p>
              </c:txPr>
              <c:showLegendKey val="0"/>
              <c:showVal val="0"/>
              <c:showCatName val="0"/>
              <c:showSerName val="0"/>
              <c:showPercent val="1"/>
              <c:showBubbleSize val="0"/>
            </c:dLbl>
            <c:numFmt formatCode="0.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Cars &amp; SUVs</c:v>
                </c:pt>
                <c:pt idx="1">
                  <c:v>Tractors</c:v>
                </c:pt>
              </c:strCache>
            </c:strRef>
          </c:cat>
          <c:val>
            <c:numRef>
              <c:f>Sheet1!$B$2:$B$3</c:f>
              <c:numCache>
                <c:ptCount val="2"/>
                <c:pt idx="0">
                  <c:v>73.79</c:v>
                </c:pt>
                <c:pt idx="1">
                  <c:v>26.21</c:v>
                </c:pt>
              </c:numCache>
            </c:numRef>
          </c:val>
        </c:ser>
        <c:firstSliceAng val="0"/>
      </c:pie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walks through the Mahindra Cars and Tractors Sales dashboard one visual at a time. Use the Agenda slide to jump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follows the dashboard from top to bottom: KPIs, model views, payments, city views, category split, then a data health check and takeaways.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1K is the count of sales records. The other cards count different fields and come out lower; the Data health check slide explains why. Sum of Discount_Percent at 412K% is not a meaningful business number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stacked bar is Sum of Units_Sold by Model. Shares here are read from bar lengths, so treat them as approximate. XUV700 is largest, Thar smallest, and the spread is only about four percentage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Count of Units_Sold by Model, which counts sales records rather than adding unit quantities. XUV700 and YUVO TECH+ clearly lead; the rest fall in a narrow band. The axis starts at zero, so the bars are an honest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scatter on the dashboard plots the same ten models along one axis. It makes the shape of the data easy to see: most models sit within about ten records of each other, while XUV700 at 116 and YUVO TECH+ at 110 sit apart, and Bolero at 90 is the low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of Unit_Price_INR by Payment_Method. Bank Finance leads narrowly at 21.4 percent, UPI is a close second, and Debit Card is the smallest at 17.1 percent. The spread from first to last is only about 4.3 points, so no single method dominates.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of Discount_Percent by City. Because it is a count, it tells us how many sales had a discount value, which tracks overall deal volume. To judge how generous discounts are, use the average discount percent by city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 of Total_Sale_Value_INR by City. Values are read from the line, so they are approximate, and the axis starts at 80 million, which exaggerates the slope visually. Even the lowest city is around 98 million, so revenue is fairly widespread. Lucknow and Delhi lead here as well as on discount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 of Total_Sale_Value_INR by Vehicle_Category. The labels on the dashboard round to 1bn and 0bn, so the percentages are the reliable read. The note about tractor models is an inference from model names; the dashboard does not label which model belongs to which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reading-the-dashboard cautions rather than errors we can prove. The distinct-count explanation is the most likely one for the KPI cards because the donut for the same field adds to 1,000.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four takeaways, then the follow-ups: fix the discount KPI, confirm the counts, and dig into whether discounting drives Lucknow's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chart" Target="/ppt/charts/chart1.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4"/>
        </a:solidFill>
      </p:bgPr>
    </p:bg>
    <p:spTree>
      <p:nvGrpSpPr>
        <p:cNvPr id="1" name=""/>
        <p:cNvGrpSpPr/>
        <p:nvPr/>
      </p:nvGrpSpPr>
      <p:grpSpPr>
        <a:xfrm>
          <a:off x="0" y="0"/>
          <a:ext cx="0" cy="0"/>
          <a:chOff x="0" y="0"/>
          <a:chExt cx="0" cy="0"/>
        </a:xfrm>
      </p:grpSpPr>
      <p:sp>
        <p:nvSpPr>
          <p:cNvPr id="2" name="Text 0"/>
          <p:cNvSpPr txBox="1"/>
          <p:nvPr/>
        </p:nvSpPr>
        <p:spPr>
          <a:xfrm>
            <a:off x="548640" y="1051560"/>
            <a:ext cx="530352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Mahindra Cars &amp; Tractors</a:t>
            </a:r>
            <a:endParaRPr lang="en-US" sz="2800" dirty="0"/>
          </a:p>
        </p:txBody>
      </p:sp>
      <p:sp>
        <p:nvSpPr>
          <p:cNvPr id="3" name="Text 1"/>
          <p:cNvSpPr txBox="1"/>
          <p:nvPr/>
        </p:nvSpPr>
        <p:spPr>
          <a:xfrm>
            <a:off x="548640" y="1600200"/>
            <a:ext cx="5303520" cy="548640"/>
          </a:xfrm>
          <a:prstGeom prst="rect">
            <a:avLst/>
          </a:prstGeom>
          <a:noFill/>
          <a:ln/>
        </p:spPr>
        <p:txBody>
          <a:bodyPr wrap="square" lIns="0" tIns="0" rIns="0" bIns="0" rtlCol="0" anchor="ctr"/>
          <a:lstStyle/>
          <a:p>
            <a:pPr indent="0" marL="0">
              <a:buNone/>
            </a:pPr>
            <a:r>
              <a:rPr lang="en-US" sz="2800" b="1" dirty="0">
                <a:solidFill>
                  <a:srgbClr val="F2C14E"/>
                </a:solidFill>
                <a:latin typeface="Cambria" pitchFamily="34" charset="0"/>
                <a:ea typeface="Cambria" pitchFamily="34" charset="-122"/>
                <a:cs typeface="Cambria" pitchFamily="34" charset="-120"/>
              </a:rPr>
              <a:t>Sales Dashboard Walkthrough</a:t>
            </a:r>
            <a:endParaRPr lang="en-US" sz="2800" dirty="0"/>
          </a:p>
        </p:txBody>
      </p:sp>
      <p:sp>
        <p:nvSpPr>
          <p:cNvPr id="4" name="Text 2"/>
          <p:cNvSpPr txBox="1"/>
          <p:nvPr/>
        </p:nvSpPr>
        <p:spPr>
          <a:xfrm>
            <a:off x="548640" y="2423160"/>
            <a:ext cx="4754880" cy="822960"/>
          </a:xfrm>
          <a:prstGeom prst="rect">
            <a:avLst/>
          </a:prstGeom>
          <a:noFill/>
          <a:ln/>
        </p:spPr>
        <p:txBody>
          <a:bodyPr wrap="square" lIns="0" tIns="0" rIns="0" bIns="0" rtlCol="0" anchor="t"/>
          <a:lstStyle/>
          <a:p>
            <a:pPr indent="0" marL="0">
              <a:buNone/>
            </a:pPr>
            <a:r>
              <a:rPr lang="en-US" sz="1600" dirty="0">
                <a:solidFill>
                  <a:srgbClr val="C9CED6"/>
                </a:solidFill>
                <a:latin typeface="Calibri" pitchFamily="34" charset="0"/>
                <a:ea typeface="Calibri" pitchFamily="34" charset="-122"/>
                <a:cs typeface="Calibri" pitchFamily="34" charset="-120"/>
              </a:rPr>
              <a:t>A guided tour of every chart and KPI: what it shows, what it means, and what to check next.</a:t>
            </a:r>
            <a:endParaRPr lang="en-US" sz="1600" dirty="0"/>
          </a:p>
        </p:txBody>
      </p:sp>
      <p:sp>
        <p:nvSpPr>
          <p:cNvPr id="5" name="Text 3"/>
          <p:cNvSpPr txBox="1"/>
          <p:nvPr/>
        </p:nvSpPr>
        <p:spPr>
          <a:xfrm>
            <a:off x="548640" y="4206240"/>
            <a:ext cx="4754880" cy="320040"/>
          </a:xfrm>
          <a:prstGeom prst="rect">
            <a:avLst/>
          </a:prstGeom>
          <a:noFill/>
          <a:ln/>
        </p:spPr>
        <p:txBody>
          <a:bodyPr wrap="square" lIns="0" tIns="0" rIns="0" bIns="0" rtlCol="0" anchor="t"/>
          <a:lstStyle/>
          <a:p>
            <a:pPr indent="0" marL="0">
              <a:buNone/>
            </a:pPr>
            <a:r>
              <a:rPr lang="en-US" sz="1200" i="1" dirty="0">
                <a:solidFill>
                  <a:srgbClr val="A3A9B3"/>
                </a:solidFill>
                <a:latin typeface="Calibri" pitchFamily="34" charset="0"/>
                <a:ea typeface="Calibri" pitchFamily="34" charset="-122"/>
                <a:cs typeface="Calibri" pitchFamily="34" charset="-120"/>
              </a:rPr>
              <a:t>Tip: use the Agenda slide to jump to any section.</a:t>
            </a:r>
            <a:endParaRPr lang="en-US" sz="1200" dirty="0"/>
          </a:p>
        </p:txBody>
      </p:sp>
      <p:sp>
        <p:nvSpPr>
          <p:cNvPr id="6" name="Shape 4"/>
          <p:cNvSpPr/>
          <p:nvPr/>
        </p:nvSpPr>
        <p:spPr>
          <a:xfrm>
            <a:off x="6035040" y="914400"/>
            <a:ext cx="2560320" cy="1005840"/>
          </a:xfrm>
          <a:prstGeom prst="roundRect">
            <a:avLst>
              <a:gd name="adj" fmla="val 10909"/>
            </a:avLst>
          </a:prstGeom>
          <a:solidFill>
            <a:srgbClr val="2A2F36"/>
          </a:solidFill>
          <a:ln w="12700">
            <a:solidFill>
              <a:srgbClr val="2A2F36"/>
            </a:solidFill>
            <a:prstDash val="solid"/>
          </a:ln>
        </p:spPr>
      </p:sp>
      <p:sp>
        <p:nvSpPr>
          <p:cNvPr id="7" name="Text 5"/>
          <p:cNvSpPr txBox="1"/>
          <p:nvPr/>
        </p:nvSpPr>
        <p:spPr>
          <a:xfrm>
            <a:off x="6217920" y="1005840"/>
            <a:ext cx="822960" cy="822960"/>
          </a:xfrm>
          <a:prstGeom prst="rect">
            <a:avLst/>
          </a:prstGeom>
          <a:noFill/>
          <a:ln/>
        </p:spPr>
        <p:txBody>
          <a:bodyPr wrap="square" lIns="0" tIns="0" rIns="0" bIns="0" rtlCol="0" anchor="ctr"/>
          <a:lstStyle/>
          <a:p>
            <a:pPr indent="0" marL="0">
              <a:buNone/>
            </a:pPr>
            <a:r>
              <a:rPr lang="en-US" sz="4000" b="1" dirty="0">
                <a:solidFill>
                  <a:srgbClr val="F2C14E"/>
                </a:solidFill>
                <a:latin typeface="Cambria" pitchFamily="34" charset="0"/>
                <a:ea typeface="Cambria" pitchFamily="34" charset="-122"/>
                <a:cs typeface="Cambria" pitchFamily="34" charset="-120"/>
              </a:rPr>
              <a:t>10</a:t>
            </a:r>
            <a:endParaRPr lang="en-US" sz="4000" dirty="0"/>
          </a:p>
        </p:txBody>
      </p:sp>
      <p:sp>
        <p:nvSpPr>
          <p:cNvPr id="8" name="Text 6"/>
          <p:cNvSpPr txBox="1"/>
          <p:nvPr/>
        </p:nvSpPr>
        <p:spPr>
          <a:xfrm>
            <a:off x="7040880" y="1005840"/>
            <a:ext cx="1463040"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car &amp; tractor models</a:t>
            </a:r>
            <a:endParaRPr lang="en-US" sz="1400" dirty="0"/>
          </a:p>
        </p:txBody>
      </p:sp>
      <p:sp>
        <p:nvSpPr>
          <p:cNvPr id="9" name="Shape 7"/>
          <p:cNvSpPr/>
          <p:nvPr/>
        </p:nvSpPr>
        <p:spPr>
          <a:xfrm>
            <a:off x="6035040" y="2103120"/>
            <a:ext cx="2560320" cy="1005840"/>
          </a:xfrm>
          <a:prstGeom prst="roundRect">
            <a:avLst>
              <a:gd name="adj" fmla="val 10909"/>
            </a:avLst>
          </a:prstGeom>
          <a:solidFill>
            <a:srgbClr val="2A2F36"/>
          </a:solidFill>
          <a:ln w="12700">
            <a:solidFill>
              <a:srgbClr val="2A2F36"/>
            </a:solidFill>
            <a:prstDash val="solid"/>
          </a:ln>
        </p:spPr>
      </p:sp>
      <p:sp>
        <p:nvSpPr>
          <p:cNvPr id="10" name="Text 8"/>
          <p:cNvSpPr txBox="1"/>
          <p:nvPr/>
        </p:nvSpPr>
        <p:spPr>
          <a:xfrm>
            <a:off x="6217920" y="2194560"/>
            <a:ext cx="822960" cy="822960"/>
          </a:xfrm>
          <a:prstGeom prst="rect">
            <a:avLst/>
          </a:prstGeom>
          <a:noFill/>
          <a:ln/>
        </p:spPr>
        <p:txBody>
          <a:bodyPr wrap="square" lIns="0" tIns="0" rIns="0" bIns="0" rtlCol="0" anchor="ctr"/>
          <a:lstStyle/>
          <a:p>
            <a:pPr indent="0" marL="0">
              <a:buNone/>
            </a:pPr>
            <a:r>
              <a:rPr lang="en-US" sz="4000" b="1" dirty="0">
                <a:solidFill>
                  <a:srgbClr val="F2C14E"/>
                </a:solidFill>
                <a:latin typeface="Cambria" pitchFamily="34" charset="0"/>
                <a:ea typeface="Cambria" pitchFamily="34" charset="-122"/>
                <a:cs typeface="Cambria" pitchFamily="34" charset="-120"/>
              </a:rPr>
              <a:t>5</a:t>
            </a:r>
            <a:endParaRPr lang="en-US" sz="4000" dirty="0"/>
          </a:p>
        </p:txBody>
      </p:sp>
      <p:sp>
        <p:nvSpPr>
          <p:cNvPr id="11" name="Text 9"/>
          <p:cNvSpPr txBox="1"/>
          <p:nvPr/>
        </p:nvSpPr>
        <p:spPr>
          <a:xfrm>
            <a:off x="7040880" y="2194560"/>
            <a:ext cx="1463040"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payment methods</a:t>
            </a:r>
            <a:endParaRPr lang="en-US" sz="1400" dirty="0"/>
          </a:p>
        </p:txBody>
      </p:sp>
      <p:sp>
        <p:nvSpPr>
          <p:cNvPr id="12" name="Shape 10"/>
          <p:cNvSpPr/>
          <p:nvPr/>
        </p:nvSpPr>
        <p:spPr>
          <a:xfrm>
            <a:off x="6035040" y="3291840"/>
            <a:ext cx="2560320" cy="1005840"/>
          </a:xfrm>
          <a:prstGeom prst="roundRect">
            <a:avLst>
              <a:gd name="adj" fmla="val 10909"/>
            </a:avLst>
          </a:prstGeom>
          <a:solidFill>
            <a:srgbClr val="2A2F36"/>
          </a:solidFill>
          <a:ln w="12700">
            <a:solidFill>
              <a:srgbClr val="2A2F36"/>
            </a:solidFill>
            <a:prstDash val="solid"/>
          </a:ln>
        </p:spPr>
      </p:sp>
      <p:sp>
        <p:nvSpPr>
          <p:cNvPr id="13" name="Text 11"/>
          <p:cNvSpPr txBox="1"/>
          <p:nvPr/>
        </p:nvSpPr>
        <p:spPr>
          <a:xfrm>
            <a:off x="6217920" y="3383280"/>
            <a:ext cx="822960" cy="822960"/>
          </a:xfrm>
          <a:prstGeom prst="rect">
            <a:avLst/>
          </a:prstGeom>
          <a:noFill/>
          <a:ln/>
        </p:spPr>
        <p:txBody>
          <a:bodyPr wrap="square" lIns="0" tIns="0" rIns="0" bIns="0" rtlCol="0" anchor="ctr"/>
          <a:lstStyle/>
          <a:p>
            <a:pPr indent="0" marL="0">
              <a:buNone/>
            </a:pPr>
            <a:r>
              <a:rPr lang="en-US" sz="4000" b="1" dirty="0">
                <a:solidFill>
                  <a:srgbClr val="F2C14E"/>
                </a:solidFill>
                <a:latin typeface="Cambria" pitchFamily="34" charset="0"/>
                <a:ea typeface="Cambria" pitchFamily="34" charset="-122"/>
                <a:cs typeface="Cambria" pitchFamily="34" charset="-120"/>
              </a:rPr>
              <a:t>2</a:t>
            </a:r>
            <a:endParaRPr lang="en-US" sz="4000" dirty="0"/>
          </a:p>
        </p:txBody>
      </p:sp>
      <p:sp>
        <p:nvSpPr>
          <p:cNvPr id="14" name="Text 12"/>
          <p:cNvSpPr txBox="1"/>
          <p:nvPr/>
        </p:nvSpPr>
        <p:spPr>
          <a:xfrm>
            <a:off x="7040880" y="3383280"/>
            <a:ext cx="1463040"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vehicle categories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94360"/>
          </a:xfrm>
          <a:prstGeom prst="rect">
            <a:avLst/>
          </a:prstGeom>
          <a:noFill/>
          <a:ln/>
        </p:spPr>
        <p:txBody>
          <a:bodyPr wrap="square" lIns="0" tIns="0" rIns="0" bIns="0" rtlCol="0" anchor="ctr"/>
          <a:lstStyle/>
          <a:p>
            <a:pPr indent="0" marL="0">
              <a:buNone/>
            </a:pPr>
            <a:r>
              <a:rPr lang="en-US" sz="3200" b="1" dirty="0">
                <a:solidFill>
                  <a:srgbClr val="1B1F24"/>
                </a:solidFill>
                <a:latin typeface="Cambria" pitchFamily="34" charset="0"/>
                <a:ea typeface="Cambria" pitchFamily="34" charset="-122"/>
                <a:cs typeface="Cambria" pitchFamily="34" charset="-120"/>
              </a:rPr>
              <a:t>Agenda</a:t>
            </a:r>
            <a:endParaRPr lang="en-US" sz="3200" dirty="0"/>
          </a:p>
        </p:txBody>
      </p:sp>
      <p:sp>
        <p:nvSpPr>
          <p:cNvPr id="3" name="Text 1"/>
          <p:cNvSpPr txBox="1"/>
          <p:nvPr/>
        </p:nvSpPr>
        <p:spPr>
          <a:xfrm>
            <a:off x="548640" y="914400"/>
            <a:ext cx="8046720"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Click any card to jump straight to that slide</a:t>
            </a:r>
            <a:endParaRPr lang="en-US" sz="1600" dirty="0"/>
          </a:p>
        </p:txBody>
      </p:sp>
      <p:sp>
        <p:nvSpPr>
          <p:cNvPr id="4" name="Shape 2"/>
          <p:cNvSpPr/>
          <p:nvPr/>
        </p:nvSpPr>
        <p:spPr>
          <a:xfrm>
            <a:off x="548640" y="1463040"/>
            <a:ext cx="3886200" cy="566928"/>
          </a:xfrm>
          <a:prstGeom prst="roundRect">
            <a:avLst>
              <a:gd name="adj" fmla="val 16129"/>
            </a:avLst>
          </a:prstGeom>
          <a:solidFill>
            <a:srgbClr val="F3F4F6"/>
          </a:solidFill>
          <a:ln w="12700">
            <a:solidFill>
              <a:srgbClr val="F3F4F6"/>
            </a:solidFill>
            <a:prstDash val="solid"/>
          </a:ln>
        </p:spPr>
      </p:sp>
      <p:sp>
        <p:nvSpPr>
          <p:cNvPr id="5" name="Shape 3"/>
          <p:cNvSpPr/>
          <p:nvPr/>
        </p:nvSpPr>
        <p:spPr>
          <a:xfrm>
            <a:off x="685800" y="1581912"/>
            <a:ext cx="329184" cy="329184"/>
          </a:xfrm>
          <a:prstGeom prst="ellipse">
            <a:avLst/>
          </a:prstGeom>
          <a:solidFill>
            <a:srgbClr val="C8102E"/>
          </a:solidFill>
          <a:ln w="12700">
            <a:solidFill>
              <a:srgbClr val="C8102E"/>
            </a:solidFill>
            <a:prstDash val="solid"/>
          </a:ln>
        </p:spPr>
      </p:sp>
      <p:sp>
        <p:nvSpPr>
          <p:cNvPr id="6" name="Text 4"/>
          <p:cNvSpPr txBox="1"/>
          <p:nvPr/>
        </p:nvSpPr>
        <p:spPr>
          <a:xfrm>
            <a:off x="685800" y="15819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a:hlinkClick r:id="rId1" tooltip="Go to Headline KPIs" action="ppaction://hlinksldjump"/>
          </p:cNvPr>
          <p:cNvSpPr txBox="1"/>
          <p:nvPr/>
        </p:nvSpPr>
        <p:spPr>
          <a:xfrm>
            <a:off x="1188720" y="1536192"/>
            <a:ext cx="3108960" cy="420624"/>
          </a:xfrm>
          <a:prstGeom prst="rect">
            <a:avLst/>
          </a:prstGeom>
          <a:noFill/>
          <a:ln/>
        </p:spPr>
        <p:txBody>
          <a:bodyPr wrap="square" lIns="0" tIns="0" rIns="0" bIns="0" rtlCol="0" anchor="ctr"/>
          <a:lstStyle/>
          <a:p>
            <a:pPr indent="0" marL="0">
              <a:buNone/>
            </a:pPr>
            <a:r>
              <a:rPr lang="en-US" sz="1600" b="1" u="sng" dirty="0">
                <a:solidFill>
                  <a:srgbClr val="374151"/>
                </a:solidFill>
                <a:latin typeface="Calibri" pitchFamily="34" charset="0"/>
                <a:ea typeface="Calibri" pitchFamily="34" charset="-122"/>
                <a:cs typeface="Calibri" pitchFamily="34" charset="-120"/>
                <a:hlinkClick r:id="rId1" action="ppaction://hlinksldjump" tooltip="Go to Headline KPIs">
                  <a:extLst>
                    <a:ext uri="{A12FA001-AC4F-418D-AE19-62706E023703}">
                      <ahyp:hlinkClr xmlns:ahyp="http://schemas.microsoft.com/office/drawing/2018/hyperlinkcolor" val="tx"/>
                    </a:ext>
                  </a:extLst>
                </a:hlinkClick>
              </a:rPr>
              <a:t>Headline KPIs</a:t>
            </a:r>
            <a:endParaRPr lang="en-US" sz="1600" dirty="0"/>
          </a:p>
        </p:txBody>
      </p:sp>
      <p:sp>
        <p:nvSpPr>
          <p:cNvPr id="8" name="Shape 6"/>
          <p:cNvSpPr/>
          <p:nvPr/>
        </p:nvSpPr>
        <p:spPr>
          <a:xfrm>
            <a:off x="4709160" y="1463040"/>
            <a:ext cx="3886200" cy="566928"/>
          </a:xfrm>
          <a:prstGeom prst="roundRect">
            <a:avLst>
              <a:gd name="adj" fmla="val 16129"/>
            </a:avLst>
          </a:prstGeom>
          <a:solidFill>
            <a:srgbClr val="F3F4F6"/>
          </a:solidFill>
          <a:ln w="12700">
            <a:solidFill>
              <a:srgbClr val="F3F4F6"/>
            </a:solidFill>
            <a:prstDash val="solid"/>
          </a:ln>
        </p:spPr>
      </p:sp>
      <p:sp>
        <p:nvSpPr>
          <p:cNvPr id="9" name="Shape 7"/>
          <p:cNvSpPr/>
          <p:nvPr/>
        </p:nvSpPr>
        <p:spPr>
          <a:xfrm>
            <a:off x="4846320" y="1581912"/>
            <a:ext cx="329184" cy="329184"/>
          </a:xfrm>
          <a:prstGeom prst="ellipse">
            <a:avLst/>
          </a:prstGeom>
          <a:solidFill>
            <a:srgbClr val="C8102E"/>
          </a:solidFill>
          <a:ln w="12700">
            <a:solidFill>
              <a:srgbClr val="C8102E"/>
            </a:solidFill>
            <a:prstDash val="solid"/>
          </a:ln>
        </p:spPr>
      </p:sp>
      <p:sp>
        <p:nvSpPr>
          <p:cNvPr id="10" name="Text 8"/>
          <p:cNvSpPr txBox="1"/>
          <p:nvPr/>
        </p:nvSpPr>
        <p:spPr>
          <a:xfrm>
            <a:off x="4846320" y="158191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a:hlinkClick r:id="rId2" tooltip="Go to Model share of units" action="ppaction://hlinksldjump"/>
          </p:cNvPr>
          <p:cNvSpPr txBox="1"/>
          <p:nvPr/>
        </p:nvSpPr>
        <p:spPr>
          <a:xfrm>
            <a:off x="5349240" y="1536192"/>
            <a:ext cx="3108960" cy="420624"/>
          </a:xfrm>
          <a:prstGeom prst="rect">
            <a:avLst/>
          </a:prstGeom>
          <a:noFill/>
          <a:ln/>
        </p:spPr>
        <p:txBody>
          <a:bodyPr wrap="square" lIns="0" tIns="0" rIns="0" bIns="0" rtlCol="0" anchor="ctr"/>
          <a:lstStyle/>
          <a:p>
            <a:pPr indent="0" marL="0">
              <a:buNone/>
            </a:pPr>
            <a:r>
              <a:rPr lang="en-US" sz="1600" b="1" u="sng" dirty="0">
                <a:solidFill>
                  <a:srgbClr val="374151"/>
                </a:solidFill>
                <a:latin typeface="Calibri" pitchFamily="34" charset="0"/>
                <a:ea typeface="Calibri" pitchFamily="34" charset="-122"/>
                <a:cs typeface="Calibri" pitchFamily="34" charset="-120"/>
                <a:hlinkClick r:id="rId2" action="ppaction://hlinksldjump" tooltip="Go to Model share of units">
                  <a:extLst>
                    <a:ext uri="{A12FA001-AC4F-418D-AE19-62706E023703}">
                      <ahyp:hlinkClr xmlns:ahyp="http://schemas.microsoft.com/office/drawing/2018/hyperlinkcolor" val="tx"/>
                    </a:ext>
                  </a:extLst>
                </a:hlinkClick>
              </a:rPr>
              <a:t>Model share of units</a:t>
            </a:r>
            <a:endParaRPr lang="en-US" sz="1600" dirty="0"/>
          </a:p>
        </p:txBody>
      </p:sp>
      <p:sp>
        <p:nvSpPr>
          <p:cNvPr id="12" name="Shape 10"/>
          <p:cNvSpPr/>
          <p:nvPr/>
        </p:nvSpPr>
        <p:spPr>
          <a:xfrm>
            <a:off x="548640" y="2121408"/>
            <a:ext cx="3886200" cy="566928"/>
          </a:xfrm>
          <a:prstGeom prst="roundRect">
            <a:avLst>
              <a:gd name="adj" fmla="val 16129"/>
            </a:avLst>
          </a:prstGeom>
          <a:solidFill>
            <a:srgbClr val="F3F4F6"/>
          </a:solidFill>
          <a:ln w="12700">
            <a:solidFill>
              <a:srgbClr val="F3F4F6"/>
            </a:solidFill>
            <a:prstDash val="solid"/>
          </a:ln>
        </p:spPr>
      </p:sp>
      <p:sp>
        <p:nvSpPr>
          <p:cNvPr id="13" name="Shape 11"/>
          <p:cNvSpPr/>
          <p:nvPr/>
        </p:nvSpPr>
        <p:spPr>
          <a:xfrm>
            <a:off x="685800" y="2240280"/>
            <a:ext cx="329184" cy="329184"/>
          </a:xfrm>
          <a:prstGeom prst="ellipse">
            <a:avLst/>
          </a:prstGeom>
          <a:solidFill>
            <a:srgbClr val="C8102E"/>
          </a:solidFill>
          <a:ln w="12700">
            <a:solidFill>
              <a:srgbClr val="C8102E"/>
            </a:solidFill>
            <a:prstDash val="solid"/>
          </a:ln>
        </p:spPr>
      </p:sp>
      <p:sp>
        <p:nvSpPr>
          <p:cNvPr id="14" name="Text 12"/>
          <p:cNvSpPr txBox="1"/>
          <p:nvPr/>
        </p:nvSpPr>
        <p:spPr>
          <a:xfrm>
            <a:off x="685800" y="22402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a:hlinkClick r:id="rId3" tooltip="Go to Model popularity" action="ppaction://hlinksldjump"/>
          </p:cNvPr>
          <p:cNvSpPr txBox="1"/>
          <p:nvPr/>
        </p:nvSpPr>
        <p:spPr>
          <a:xfrm>
            <a:off x="1188720" y="2194560"/>
            <a:ext cx="3108960" cy="420624"/>
          </a:xfrm>
          <a:prstGeom prst="rect">
            <a:avLst/>
          </a:prstGeom>
          <a:noFill/>
          <a:ln/>
        </p:spPr>
        <p:txBody>
          <a:bodyPr wrap="square" lIns="0" tIns="0" rIns="0" bIns="0" rtlCol="0" anchor="ctr"/>
          <a:lstStyle/>
          <a:p>
            <a:pPr indent="0" marL="0">
              <a:buNone/>
            </a:pPr>
            <a:r>
              <a:rPr lang="en-US" sz="1600" b="1" u="sng" dirty="0">
                <a:solidFill>
                  <a:srgbClr val="374151"/>
                </a:solidFill>
                <a:latin typeface="Calibri" pitchFamily="34" charset="0"/>
                <a:ea typeface="Calibri" pitchFamily="34" charset="-122"/>
                <a:cs typeface="Calibri" pitchFamily="34" charset="-120"/>
                <a:hlinkClick r:id="rId3" action="ppaction://hlinksldjump" tooltip="Go to Model popularity">
                  <a:extLst>
                    <a:ext uri="{A12FA001-AC4F-418D-AE19-62706E023703}">
                      <ahyp:hlinkClr xmlns:ahyp="http://schemas.microsoft.com/office/drawing/2018/hyperlinkcolor" val="tx"/>
                    </a:ext>
                  </a:extLst>
                </a:hlinkClick>
              </a:rPr>
              <a:t>Model popularity</a:t>
            </a:r>
            <a:endParaRPr lang="en-US" sz="1600" dirty="0"/>
          </a:p>
        </p:txBody>
      </p:sp>
      <p:sp>
        <p:nvSpPr>
          <p:cNvPr id="16" name="Shape 14"/>
          <p:cNvSpPr/>
          <p:nvPr/>
        </p:nvSpPr>
        <p:spPr>
          <a:xfrm>
            <a:off x="4709160" y="2121408"/>
            <a:ext cx="3886200" cy="566928"/>
          </a:xfrm>
          <a:prstGeom prst="roundRect">
            <a:avLst>
              <a:gd name="adj" fmla="val 16129"/>
            </a:avLst>
          </a:prstGeom>
          <a:solidFill>
            <a:srgbClr val="F3F4F6"/>
          </a:solidFill>
          <a:ln w="12700">
            <a:solidFill>
              <a:srgbClr val="F3F4F6"/>
            </a:solidFill>
            <a:prstDash val="solid"/>
          </a:ln>
        </p:spPr>
      </p:sp>
      <p:sp>
        <p:nvSpPr>
          <p:cNvPr id="17" name="Shape 15"/>
          <p:cNvSpPr/>
          <p:nvPr/>
        </p:nvSpPr>
        <p:spPr>
          <a:xfrm>
            <a:off x="4846320" y="2240280"/>
            <a:ext cx="329184" cy="329184"/>
          </a:xfrm>
          <a:prstGeom prst="ellipse">
            <a:avLst/>
          </a:prstGeom>
          <a:solidFill>
            <a:srgbClr val="C8102E"/>
          </a:solidFill>
          <a:ln w="12700">
            <a:solidFill>
              <a:srgbClr val="C8102E"/>
            </a:solidFill>
            <a:prstDash val="solid"/>
          </a:ln>
        </p:spPr>
      </p:sp>
      <p:sp>
        <p:nvSpPr>
          <p:cNvPr id="18" name="Text 16"/>
          <p:cNvSpPr txBox="1"/>
          <p:nvPr/>
        </p:nvSpPr>
        <p:spPr>
          <a:xfrm>
            <a:off x="4846320" y="22402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a:hlinkClick r:id="rId4" tooltip="Go to Spread across models" action="ppaction://hlinksldjump"/>
          </p:cNvPr>
          <p:cNvSpPr txBox="1"/>
          <p:nvPr/>
        </p:nvSpPr>
        <p:spPr>
          <a:xfrm>
            <a:off x="5349240" y="2194560"/>
            <a:ext cx="3108960" cy="420624"/>
          </a:xfrm>
          <a:prstGeom prst="rect">
            <a:avLst/>
          </a:prstGeom>
          <a:noFill/>
          <a:ln/>
        </p:spPr>
        <p:txBody>
          <a:bodyPr wrap="square" lIns="0" tIns="0" rIns="0" bIns="0" rtlCol="0" anchor="ctr"/>
          <a:lstStyle/>
          <a:p>
            <a:pPr indent="0" marL="0">
              <a:buNone/>
            </a:pPr>
            <a:r>
              <a:rPr lang="en-US" sz="1600" b="1" u="sng" dirty="0">
                <a:solidFill>
                  <a:srgbClr val="374151"/>
                </a:solidFill>
                <a:latin typeface="Calibri" pitchFamily="34" charset="0"/>
                <a:ea typeface="Calibri" pitchFamily="34" charset="-122"/>
                <a:cs typeface="Calibri" pitchFamily="34" charset="-120"/>
                <a:hlinkClick r:id="rId4" action="ppaction://hlinksldjump" tooltip="Go to Spread across models">
                  <a:extLst>
                    <a:ext uri="{A12FA001-AC4F-418D-AE19-62706E023703}">
                      <ahyp:hlinkClr xmlns:ahyp="http://schemas.microsoft.com/office/drawing/2018/hyperlinkcolor" val="tx"/>
                    </a:ext>
                  </a:extLst>
                </a:hlinkClick>
              </a:rPr>
              <a:t>Spread across models</a:t>
            </a:r>
            <a:endParaRPr lang="en-US" sz="1600" dirty="0"/>
          </a:p>
        </p:txBody>
      </p:sp>
      <p:sp>
        <p:nvSpPr>
          <p:cNvPr id="20" name="Shape 18"/>
          <p:cNvSpPr/>
          <p:nvPr/>
        </p:nvSpPr>
        <p:spPr>
          <a:xfrm>
            <a:off x="548640" y="2779776"/>
            <a:ext cx="3886200" cy="566928"/>
          </a:xfrm>
          <a:prstGeom prst="roundRect">
            <a:avLst>
              <a:gd name="adj" fmla="val 16129"/>
            </a:avLst>
          </a:prstGeom>
          <a:solidFill>
            <a:srgbClr val="F3F4F6"/>
          </a:solidFill>
          <a:ln w="12700">
            <a:solidFill>
              <a:srgbClr val="F3F4F6"/>
            </a:solidFill>
            <a:prstDash val="solid"/>
          </a:ln>
        </p:spPr>
      </p:sp>
      <p:sp>
        <p:nvSpPr>
          <p:cNvPr id="21" name="Shape 19"/>
          <p:cNvSpPr/>
          <p:nvPr/>
        </p:nvSpPr>
        <p:spPr>
          <a:xfrm>
            <a:off x="685800" y="2898648"/>
            <a:ext cx="329184" cy="329184"/>
          </a:xfrm>
          <a:prstGeom prst="ellipse">
            <a:avLst/>
          </a:prstGeom>
          <a:solidFill>
            <a:srgbClr val="C8102E"/>
          </a:solidFill>
          <a:ln w="12700">
            <a:solidFill>
              <a:srgbClr val="C8102E"/>
            </a:solidFill>
            <a:prstDash val="solid"/>
          </a:ln>
        </p:spPr>
      </p:sp>
      <p:sp>
        <p:nvSpPr>
          <p:cNvPr id="22" name="Text 20"/>
          <p:cNvSpPr txBox="1"/>
          <p:nvPr/>
        </p:nvSpPr>
        <p:spPr>
          <a:xfrm>
            <a:off x="685800" y="28986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a:hlinkClick r:id="rId5" tooltip="Go to Payment method mix" action="ppaction://hlinksldjump"/>
          </p:cNvPr>
          <p:cNvSpPr txBox="1"/>
          <p:nvPr/>
        </p:nvSpPr>
        <p:spPr>
          <a:xfrm>
            <a:off x="1188720" y="2852928"/>
            <a:ext cx="3108960" cy="420624"/>
          </a:xfrm>
          <a:prstGeom prst="rect">
            <a:avLst/>
          </a:prstGeom>
          <a:noFill/>
          <a:ln/>
        </p:spPr>
        <p:txBody>
          <a:bodyPr wrap="square" lIns="0" tIns="0" rIns="0" bIns="0" rtlCol="0" anchor="ctr"/>
          <a:lstStyle/>
          <a:p>
            <a:pPr indent="0" marL="0">
              <a:buNone/>
            </a:pPr>
            <a:r>
              <a:rPr lang="en-US" sz="1600" b="1" u="sng" dirty="0">
                <a:solidFill>
                  <a:srgbClr val="374151"/>
                </a:solidFill>
                <a:latin typeface="Calibri" pitchFamily="34" charset="0"/>
                <a:ea typeface="Calibri" pitchFamily="34" charset="-122"/>
                <a:cs typeface="Calibri" pitchFamily="34" charset="-120"/>
                <a:hlinkClick r:id="rId5" action="ppaction://hlinksldjump" tooltip="Go to Payment method mix">
                  <a:extLst>
                    <a:ext uri="{A12FA001-AC4F-418D-AE19-62706E023703}">
                      <ahyp:hlinkClr xmlns:ahyp="http://schemas.microsoft.com/office/drawing/2018/hyperlinkcolor" val="tx"/>
                    </a:ext>
                  </a:extLst>
                </a:hlinkClick>
              </a:rPr>
              <a:t>Payment method mix</a:t>
            </a:r>
            <a:endParaRPr lang="en-US" sz="1600" dirty="0"/>
          </a:p>
        </p:txBody>
      </p:sp>
      <p:sp>
        <p:nvSpPr>
          <p:cNvPr id="24" name="Shape 22"/>
          <p:cNvSpPr/>
          <p:nvPr/>
        </p:nvSpPr>
        <p:spPr>
          <a:xfrm>
            <a:off x="4709160" y="2779776"/>
            <a:ext cx="3886200" cy="566928"/>
          </a:xfrm>
          <a:prstGeom prst="roundRect">
            <a:avLst>
              <a:gd name="adj" fmla="val 16129"/>
            </a:avLst>
          </a:prstGeom>
          <a:solidFill>
            <a:srgbClr val="F3F4F6"/>
          </a:solidFill>
          <a:ln w="12700">
            <a:solidFill>
              <a:srgbClr val="F3F4F6"/>
            </a:solidFill>
            <a:prstDash val="solid"/>
          </a:ln>
        </p:spPr>
      </p:sp>
      <p:sp>
        <p:nvSpPr>
          <p:cNvPr id="25" name="Shape 23"/>
          <p:cNvSpPr/>
          <p:nvPr/>
        </p:nvSpPr>
        <p:spPr>
          <a:xfrm>
            <a:off x="4846320" y="2898648"/>
            <a:ext cx="329184" cy="329184"/>
          </a:xfrm>
          <a:prstGeom prst="ellipse">
            <a:avLst/>
          </a:prstGeom>
          <a:solidFill>
            <a:srgbClr val="C8102E"/>
          </a:solidFill>
          <a:ln w="12700">
            <a:solidFill>
              <a:srgbClr val="C8102E"/>
            </a:solidFill>
            <a:prstDash val="solid"/>
          </a:ln>
        </p:spPr>
      </p:sp>
      <p:sp>
        <p:nvSpPr>
          <p:cNvPr id="26" name="Text 24"/>
          <p:cNvSpPr txBox="1"/>
          <p:nvPr/>
        </p:nvSpPr>
        <p:spPr>
          <a:xfrm>
            <a:off x="4846320" y="28986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a:hlinkClick r:id="rId6" tooltip="Go to Discount activity by city" action="ppaction://hlinksldjump"/>
          </p:cNvPr>
          <p:cNvSpPr txBox="1"/>
          <p:nvPr/>
        </p:nvSpPr>
        <p:spPr>
          <a:xfrm>
            <a:off x="5349240" y="2852928"/>
            <a:ext cx="3108960" cy="420624"/>
          </a:xfrm>
          <a:prstGeom prst="rect">
            <a:avLst/>
          </a:prstGeom>
          <a:noFill/>
          <a:ln/>
        </p:spPr>
        <p:txBody>
          <a:bodyPr wrap="square" lIns="0" tIns="0" rIns="0" bIns="0" rtlCol="0" anchor="ctr"/>
          <a:lstStyle/>
          <a:p>
            <a:pPr indent="0" marL="0">
              <a:buNone/>
            </a:pPr>
            <a:r>
              <a:rPr lang="en-US" sz="1600" b="1" u="sng" dirty="0">
                <a:solidFill>
                  <a:srgbClr val="374151"/>
                </a:solidFill>
                <a:latin typeface="Calibri" pitchFamily="34" charset="0"/>
                <a:ea typeface="Calibri" pitchFamily="34" charset="-122"/>
                <a:cs typeface="Calibri" pitchFamily="34" charset="-120"/>
                <a:hlinkClick r:id="rId6" action="ppaction://hlinksldjump" tooltip="Go to Discount activity by city">
                  <a:extLst>
                    <a:ext uri="{A12FA001-AC4F-418D-AE19-62706E023703}">
                      <ahyp:hlinkClr xmlns:ahyp="http://schemas.microsoft.com/office/drawing/2018/hyperlinkcolor" val="tx"/>
                    </a:ext>
                  </a:extLst>
                </a:hlinkClick>
              </a:rPr>
              <a:t>Discount activity by city</a:t>
            </a:r>
            <a:endParaRPr lang="en-US" sz="1600" dirty="0"/>
          </a:p>
        </p:txBody>
      </p:sp>
      <p:sp>
        <p:nvSpPr>
          <p:cNvPr id="28" name="Shape 26"/>
          <p:cNvSpPr/>
          <p:nvPr/>
        </p:nvSpPr>
        <p:spPr>
          <a:xfrm>
            <a:off x="548640" y="3438144"/>
            <a:ext cx="3886200" cy="566928"/>
          </a:xfrm>
          <a:prstGeom prst="roundRect">
            <a:avLst>
              <a:gd name="adj" fmla="val 16129"/>
            </a:avLst>
          </a:prstGeom>
          <a:solidFill>
            <a:srgbClr val="F3F4F6"/>
          </a:solidFill>
          <a:ln w="12700">
            <a:solidFill>
              <a:srgbClr val="F3F4F6"/>
            </a:solidFill>
            <a:prstDash val="solid"/>
          </a:ln>
        </p:spPr>
      </p:sp>
      <p:sp>
        <p:nvSpPr>
          <p:cNvPr id="29" name="Shape 27"/>
          <p:cNvSpPr/>
          <p:nvPr/>
        </p:nvSpPr>
        <p:spPr>
          <a:xfrm>
            <a:off x="685800" y="3557016"/>
            <a:ext cx="329184" cy="329184"/>
          </a:xfrm>
          <a:prstGeom prst="ellipse">
            <a:avLst/>
          </a:prstGeom>
          <a:solidFill>
            <a:srgbClr val="C8102E"/>
          </a:solidFill>
          <a:ln w="12700">
            <a:solidFill>
              <a:srgbClr val="C8102E"/>
            </a:solidFill>
            <a:prstDash val="solid"/>
          </a:ln>
        </p:spPr>
      </p:sp>
      <p:sp>
        <p:nvSpPr>
          <p:cNvPr id="30" name="Text 28"/>
          <p:cNvSpPr txBox="1"/>
          <p:nvPr/>
        </p:nvSpPr>
        <p:spPr>
          <a:xfrm>
            <a:off x="685800" y="35570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a:hlinkClick r:id="rId7" tooltip="Go to Revenue by city" action="ppaction://hlinksldjump"/>
          </p:cNvPr>
          <p:cNvSpPr txBox="1"/>
          <p:nvPr/>
        </p:nvSpPr>
        <p:spPr>
          <a:xfrm>
            <a:off x="1188720" y="3511296"/>
            <a:ext cx="3108960" cy="420624"/>
          </a:xfrm>
          <a:prstGeom prst="rect">
            <a:avLst/>
          </a:prstGeom>
          <a:noFill/>
          <a:ln/>
        </p:spPr>
        <p:txBody>
          <a:bodyPr wrap="square" lIns="0" tIns="0" rIns="0" bIns="0" rtlCol="0" anchor="ctr"/>
          <a:lstStyle/>
          <a:p>
            <a:pPr indent="0" marL="0">
              <a:buNone/>
            </a:pPr>
            <a:r>
              <a:rPr lang="en-US" sz="1600" b="1" u="sng" dirty="0">
                <a:solidFill>
                  <a:srgbClr val="374151"/>
                </a:solidFill>
                <a:latin typeface="Calibri" pitchFamily="34" charset="0"/>
                <a:ea typeface="Calibri" pitchFamily="34" charset="-122"/>
                <a:cs typeface="Calibri" pitchFamily="34" charset="-120"/>
                <a:hlinkClick r:id="rId7" action="ppaction://hlinksldjump" tooltip="Go to Revenue by city">
                  <a:extLst>
                    <a:ext uri="{A12FA001-AC4F-418D-AE19-62706E023703}">
                      <ahyp:hlinkClr xmlns:ahyp="http://schemas.microsoft.com/office/drawing/2018/hyperlinkcolor" val="tx"/>
                    </a:ext>
                  </a:extLst>
                </a:hlinkClick>
              </a:rPr>
              <a:t>Revenue by city</a:t>
            </a:r>
            <a:endParaRPr lang="en-US" sz="1600" dirty="0"/>
          </a:p>
        </p:txBody>
      </p:sp>
      <p:sp>
        <p:nvSpPr>
          <p:cNvPr id="32" name="Shape 30"/>
          <p:cNvSpPr/>
          <p:nvPr/>
        </p:nvSpPr>
        <p:spPr>
          <a:xfrm>
            <a:off x="4709160" y="3438144"/>
            <a:ext cx="3886200" cy="566928"/>
          </a:xfrm>
          <a:prstGeom prst="roundRect">
            <a:avLst>
              <a:gd name="adj" fmla="val 16129"/>
            </a:avLst>
          </a:prstGeom>
          <a:solidFill>
            <a:srgbClr val="F3F4F6"/>
          </a:solidFill>
          <a:ln w="12700">
            <a:solidFill>
              <a:srgbClr val="F3F4F6"/>
            </a:solidFill>
            <a:prstDash val="solid"/>
          </a:ln>
        </p:spPr>
      </p:sp>
      <p:sp>
        <p:nvSpPr>
          <p:cNvPr id="33" name="Shape 31"/>
          <p:cNvSpPr/>
          <p:nvPr/>
        </p:nvSpPr>
        <p:spPr>
          <a:xfrm>
            <a:off x="4846320" y="3557016"/>
            <a:ext cx="329184" cy="329184"/>
          </a:xfrm>
          <a:prstGeom prst="ellipse">
            <a:avLst/>
          </a:prstGeom>
          <a:solidFill>
            <a:srgbClr val="C8102E"/>
          </a:solidFill>
          <a:ln w="12700">
            <a:solidFill>
              <a:srgbClr val="C8102E"/>
            </a:solidFill>
            <a:prstDash val="solid"/>
          </a:ln>
        </p:spPr>
      </p:sp>
      <p:sp>
        <p:nvSpPr>
          <p:cNvPr id="34" name="Text 32"/>
          <p:cNvSpPr txBox="1"/>
          <p:nvPr/>
        </p:nvSpPr>
        <p:spPr>
          <a:xfrm>
            <a:off x="4846320" y="35570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5" name="Text 33">
            <a:hlinkClick r:id="rId8" tooltip="Go to Vehicle category mix" action="ppaction://hlinksldjump"/>
          </p:cNvPr>
          <p:cNvSpPr txBox="1"/>
          <p:nvPr/>
        </p:nvSpPr>
        <p:spPr>
          <a:xfrm>
            <a:off x="5349240" y="3511296"/>
            <a:ext cx="3108960" cy="420624"/>
          </a:xfrm>
          <a:prstGeom prst="rect">
            <a:avLst/>
          </a:prstGeom>
          <a:noFill/>
          <a:ln/>
        </p:spPr>
        <p:txBody>
          <a:bodyPr wrap="square" lIns="0" tIns="0" rIns="0" bIns="0" rtlCol="0" anchor="ctr"/>
          <a:lstStyle/>
          <a:p>
            <a:pPr indent="0" marL="0">
              <a:buNone/>
            </a:pPr>
            <a:r>
              <a:rPr lang="en-US" sz="1600" b="1" u="sng" dirty="0">
                <a:solidFill>
                  <a:srgbClr val="374151"/>
                </a:solidFill>
                <a:latin typeface="Calibri" pitchFamily="34" charset="0"/>
                <a:ea typeface="Calibri" pitchFamily="34" charset="-122"/>
                <a:cs typeface="Calibri" pitchFamily="34" charset="-120"/>
                <a:hlinkClick r:id="rId8" action="ppaction://hlinksldjump" tooltip="Go to Vehicle category mix">
                  <a:extLst>
                    <a:ext uri="{A12FA001-AC4F-418D-AE19-62706E023703}">
                      <ahyp:hlinkClr xmlns:ahyp="http://schemas.microsoft.com/office/drawing/2018/hyperlinkcolor" val="tx"/>
                    </a:ext>
                  </a:extLst>
                </a:hlinkClick>
              </a:rPr>
              <a:t>Vehicle category mix</a:t>
            </a:r>
            <a:endParaRPr lang="en-US" sz="1600" dirty="0"/>
          </a:p>
        </p:txBody>
      </p:sp>
      <p:sp>
        <p:nvSpPr>
          <p:cNvPr id="36" name="Shape 34"/>
          <p:cNvSpPr/>
          <p:nvPr/>
        </p:nvSpPr>
        <p:spPr>
          <a:xfrm>
            <a:off x="548640" y="4096512"/>
            <a:ext cx="3886200" cy="566928"/>
          </a:xfrm>
          <a:prstGeom prst="roundRect">
            <a:avLst>
              <a:gd name="adj" fmla="val 16129"/>
            </a:avLst>
          </a:prstGeom>
          <a:solidFill>
            <a:srgbClr val="F3F4F6"/>
          </a:solidFill>
          <a:ln w="12700">
            <a:solidFill>
              <a:srgbClr val="F3F4F6"/>
            </a:solidFill>
            <a:prstDash val="solid"/>
          </a:ln>
        </p:spPr>
      </p:sp>
      <p:sp>
        <p:nvSpPr>
          <p:cNvPr id="37" name="Shape 35"/>
          <p:cNvSpPr/>
          <p:nvPr/>
        </p:nvSpPr>
        <p:spPr>
          <a:xfrm>
            <a:off x="685800" y="4215384"/>
            <a:ext cx="329184" cy="329184"/>
          </a:xfrm>
          <a:prstGeom prst="ellipse">
            <a:avLst/>
          </a:prstGeom>
          <a:solidFill>
            <a:srgbClr val="C8102E"/>
          </a:solidFill>
          <a:ln w="12700">
            <a:solidFill>
              <a:srgbClr val="C8102E"/>
            </a:solidFill>
            <a:prstDash val="solid"/>
          </a:ln>
        </p:spPr>
      </p:sp>
      <p:sp>
        <p:nvSpPr>
          <p:cNvPr id="38" name="Text 36"/>
          <p:cNvSpPr txBox="1"/>
          <p:nvPr/>
        </p:nvSpPr>
        <p:spPr>
          <a:xfrm>
            <a:off x="685800" y="4215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9" name="Text 37">
            <a:hlinkClick r:id="rId9" tooltip="Go to Data health check" action="ppaction://hlinksldjump"/>
          </p:cNvPr>
          <p:cNvSpPr txBox="1"/>
          <p:nvPr/>
        </p:nvSpPr>
        <p:spPr>
          <a:xfrm>
            <a:off x="1188720" y="4169664"/>
            <a:ext cx="3108960" cy="420624"/>
          </a:xfrm>
          <a:prstGeom prst="rect">
            <a:avLst/>
          </a:prstGeom>
          <a:noFill/>
          <a:ln/>
        </p:spPr>
        <p:txBody>
          <a:bodyPr wrap="square" lIns="0" tIns="0" rIns="0" bIns="0" rtlCol="0" anchor="ctr"/>
          <a:lstStyle/>
          <a:p>
            <a:pPr indent="0" marL="0">
              <a:buNone/>
            </a:pPr>
            <a:r>
              <a:rPr lang="en-US" sz="1600" b="1" u="sng" dirty="0">
                <a:solidFill>
                  <a:srgbClr val="374151"/>
                </a:solidFill>
                <a:latin typeface="Calibri" pitchFamily="34" charset="0"/>
                <a:ea typeface="Calibri" pitchFamily="34" charset="-122"/>
                <a:cs typeface="Calibri" pitchFamily="34" charset="-120"/>
                <a:hlinkClick r:id="rId9" action="ppaction://hlinksldjump" tooltip="Go to Data health check">
                  <a:extLst>
                    <a:ext uri="{A12FA001-AC4F-418D-AE19-62706E023703}">
                      <ahyp:hlinkClr xmlns:ahyp="http://schemas.microsoft.com/office/drawing/2018/hyperlinkcolor" val="tx"/>
                    </a:ext>
                  </a:extLst>
                </a:hlinkClick>
              </a:rPr>
              <a:t>Data health check</a:t>
            </a:r>
            <a:endParaRPr lang="en-US" sz="1600" dirty="0"/>
          </a:p>
        </p:txBody>
      </p:sp>
      <p:sp>
        <p:nvSpPr>
          <p:cNvPr id="40" name="Shape 38"/>
          <p:cNvSpPr/>
          <p:nvPr/>
        </p:nvSpPr>
        <p:spPr>
          <a:xfrm>
            <a:off x="4709160" y="4096512"/>
            <a:ext cx="3886200" cy="566928"/>
          </a:xfrm>
          <a:prstGeom prst="roundRect">
            <a:avLst>
              <a:gd name="adj" fmla="val 16129"/>
            </a:avLst>
          </a:prstGeom>
          <a:solidFill>
            <a:srgbClr val="F3F4F6"/>
          </a:solidFill>
          <a:ln w="12700">
            <a:solidFill>
              <a:srgbClr val="F3F4F6"/>
            </a:solidFill>
            <a:prstDash val="solid"/>
          </a:ln>
        </p:spPr>
      </p:sp>
      <p:sp>
        <p:nvSpPr>
          <p:cNvPr id="41" name="Shape 39"/>
          <p:cNvSpPr/>
          <p:nvPr/>
        </p:nvSpPr>
        <p:spPr>
          <a:xfrm>
            <a:off x="4846320" y="4215384"/>
            <a:ext cx="329184" cy="329184"/>
          </a:xfrm>
          <a:prstGeom prst="ellipse">
            <a:avLst/>
          </a:prstGeom>
          <a:solidFill>
            <a:srgbClr val="C8102E"/>
          </a:solidFill>
          <a:ln w="12700">
            <a:solidFill>
              <a:srgbClr val="C8102E"/>
            </a:solidFill>
            <a:prstDash val="solid"/>
          </a:ln>
        </p:spPr>
      </p:sp>
      <p:sp>
        <p:nvSpPr>
          <p:cNvPr id="42" name="Text 40"/>
          <p:cNvSpPr txBox="1"/>
          <p:nvPr/>
        </p:nvSpPr>
        <p:spPr>
          <a:xfrm>
            <a:off x="4846320" y="4215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3" name="Text 41">
            <a:hlinkClick r:id="rId10" tooltip="Go to Key takeaways" action="ppaction://hlinksldjump"/>
          </p:cNvPr>
          <p:cNvSpPr txBox="1"/>
          <p:nvPr/>
        </p:nvSpPr>
        <p:spPr>
          <a:xfrm>
            <a:off x="5349240" y="4169664"/>
            <a:ext cx="3108960" cy="420624"/>
          </a:xfrm>
          <a:prstGeom prst="rect">
            <a:avLst/>
          </a:prstGeom>
          <a:noFill/>
          <a:ln/>
        </p:spPr>
        <p:txBody>
          <a:bodyPr wrap="square" lIns="0" tIns="0" rIns="0" bIns="0" rtlCol="0" anchor="ctr"/>
          <a:lstStyle/>
          <a:p>
            <a:pPr indent="0" marL="0">
              <a:buNone/>
            </a:pPr>
            <a:r>
              <a:rPr lang="en-US" sz="1600" b="1" u="sng" dirty="0">
                <a:solidFill>
                  <a:srgbClr val="374151"/>
                </a:solidFill>
                <a:latin typeface="Calibri" pitchFamily="34" charset="0"/>
                <a:ea typeface="Calibri" pitchFamily="34" charset="-122"/>
                <a:cs typeface="Calibri" pitchFamily="34" charset="-120"/>
                <a:hlinkClick r:id="rId10" action="ppaction://hlinksldjump" tooltip="Go to Key takeaways">
                  <a:extLst>
                    <a:ext uri="{A12FA001-AC4F-418D-AE19-62706E023703}">
                      <ahyp:hlinkClr xmlns:ahyp="http://schemas.microsoft.com/office/drawing/2018/hyperlinkcolor" val="tx"/>
                    </a:ext>
                  </a:extLst>
                </a:hlinkClick>
              </a:rPr>
              <a:t>Key takeaways</a:t>
            </a:r>
            <a:endParaRPr lang="en-US" sz="16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94360"/>
          </a:xfrm>
          <a:prstGeom prst="rect">
            <a:avLst/>
          </a:prstGeom>
          <a:noFill/>
          <a:ln/>
        </p:spPr>
        <p:txBody>
          <a:bodyPr wrap="square" lIns="0" tIns="0" rIns="0" bIns="0" rtlCol="0" anchor="ctr"/>
          <a:lstStyle/>
          <a:p>
            <a:pPr indent="0" marL="0">
              <a:buNone/>
            </a:pPr>
            <a:r>
              <a:rPr lang="en-US" sz="3200" b="1" dirty="0">
                <a:solidFill>
                  <a:srgbClr val="1B1F24"/>
                </a:solidFill>
                <a:latin typeface="Cambria" pitchFamily="34" charset="0"/>
                <a:ea typeface="Cambria" pitchFamily="34" charset="-122"/>
                <a:cs typeface="Cambria" pitchFamily="34" charset="-120"/>
              </a:rPr>
              <a:t>Headline KPIs</a:t>
            </a:r>
            <a:endParaRPr lang="en-US" sz="3200" dirty="0"/>
          </a:p>
        </p:txBody>
      </p:sp>
      <p:sp>
        <p:nvSpPr>
          <p:cNvPr id="3" name="Text 1"/>
          <p:cNvSpPr txBox="1"/>
          <p:nvPr/>
        </p:nvSpPr>
        <p:spPr>
          <a:xfrm>
            <a:off x="548640" y="914400"/>
            <a:ext cx="8046720"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Five numbers summarise the whole dashboard</a:t>
            </a:r>
            <a:endParaRPr lang="en-US" sz="1600" dirty="0"/>
          </a:p>
        </p:txBody>
      </p:sp>
      <p:sp>
        <p:nvSpPr>
          <p:cNvPr id="4" name="Shape 2"/>
          <p:cNvSpPr/>
          <p:nvPr/>
        </p:nvSpPr>
        <p:spPr>
          <a:xfrm>
            <a:off x="548640" y="1463040"/>
            <a:ext cx="1536192" cy="2103120"/>
          </a:xfrm>
          <a:prstGeom prst="roundRect">
            <a:avLst>
              <a:gd name="adj" fmla="val 5952"/>
            </a:avLst>
          </a:prstGeom>
          <a:solidFill>
            <a:srgbClr val="F3F4F6"/>
          </a:solidFill>
          <a:ln w="12700">
            <a:solidFill>
              <a:srgbClr val="F3F4F6"/>
            </a:solidFill>
            <a:prstDash val="solid"/>
          </a:ln>
        </p:spPr>
      </p:sp>
      <p:sp>
        <p:nvSpPr>
          <p:cNvPr id="5" name="Text 3"/>
          <p:cNvSpPr txBox="1"/>
          <p:nvPr/>
        </p:nvSpPr>
        <p:spPr>
          <a:xfrm>
            <a:off x="640080" y="1600200"/>
            <a:ext cx="1371600" cy="640080"/>
          </a:xfrm>
          <a:prstGeom prst="rect">
            <a:avLst/>
          </a:prstGeom>
          <a:noFill/>
          <a:ln/>
        </p:spPr>
        <p:txBody>
          <a:bodyPr wrap="square" lIns="0" tIns="0" rIns="0" bIns="0" rtlCol="0" anchor="t"/>
          <a:lstStyle/>
          <a:p>
            <a:pPr indent="0" marL="0">
              <a:buNone/>
            </a:pPr>
            <a:r>
              <a:rPr lang="en-US" sz="1000" b="1" dirty="0">
                <a:solidFill>
                  <a:srgbClr val="6B7280"/>
                </a:solidFill>
                <a:latin typeface="Calibri" pitchFamily="34" charset="0"/>
                <a:ea typeface="Calibri" pitchFamily="34" charset="-122"/>
                <a:cs typeface="Calibri" pitchFamily="34" charset="-120"/>
              </a:rPr>
              <a:t>Count of Units_Sold</a:t>
            </a:r>
            <a:endParaRPr lang="en-US" sz="1000" dirty="0"/>
          </a:p>
        </p:txBody>
      </p:sp>
      <p:sp>
        <p:nvSpPr>
          <p:cNvPr id="6" name="Text 4"/>
          <p:cNvSpPr txBox="1"/>
          <p:nvPr/>
        </p:nvSpPr>
        <p:spPr>
          <a:xfrm>
            <a:off x="640080" y="2286000"/>
            <a:ext cx="1371600" cy="548640"/>
          </a:xfrm>
          <a:prstGeom prst="rect">
            <a:avLst/>
          </a:prstGeom>
          <a:noFill/>
          <a:ln/>
        </p:spPr>
        <p:txBody>
          <a:bodyPr wrap="square" lIns="0" tIns="0" rIns="0" bIns="0" rtlCol="0" anchor="ctr"/>
          <a:lstStyle/>
          <a:p>
            <a:pPr indent="0" marL="0">
              <a:buNone/>
            </a:pPr>
            <a:r>
              <a:rPr lang="en-US" sz="2600" b="1" dirty="0">
                <a:solidFill>
                  <a:srgbClr val="C8102E"/>
                </a:solidFill>
                <a:latin typeface="Cambria" pitchFamily="34" charset="0"/>
                <a:ea typeface="Cambria" pitchFamily="34" charset="-122"/>
                <a:cs typeface="Cambria" pitchFamily="34" charset="-120"/>
              </a:rPr>
              <a:t>1K</a:t>
            </a:r>
            <a:endParaRPr lang="en-US" sz="2600" dirty="0"/>
          </a:p>
        </p:txBody>
      </p:sp>
      <p:sp>
        <p:nvSpPr>
          <p:cNvPr id="7" name="Text 5"/>
          <p:cNvSpPr txBox="1"/>
          <p:nvPr/>
        </p:nvSpPr>
        <p:spPr>
          <a:xfrm>
            <a:off x="640080" y="2880360"/>
            <a:ext cx="1371600" cy="640080"/>
          </a:xfrm>
          <a:prstGeom prst="rect">
            <a:avLst/>
          </a:prstGeom>
          <a:noFill/>
          <a:ln/>
        </p:spPr>
        <p:txBody>
          <a:bodyPr wrap="square" lIns="0" tIns="0" rIns="0" bIns="0" rtlCol="0" anchor="t"/>
          <a:lstStyle/>
          <a:p>
            <a:pPr indent="0" marL="0">
              <a:buNone/>
            </a:pPr>
            <a:r>
              <a:rPr lang="en-US" sz="1200" dirty="0">
                <a:solidFill>
                  <a:srgbClr val="374151"/>
                </a:solidFill>
                <a:latin typeface="Calibri" pitchFamily="34" charset="0"/>
                <a:ea typeface="Calibri" pitchFamily="34" charset="-122"/>
                <a:cs typeface="Calibri" pitchFamily="34" charset="-120"/>
              </a:rPr>
              <a:t>About 1,000 sales records in the dataset</a:t>
            </a:r>
            <a:endParaRPr lang="en-US" sz="1200" dirty="0"/>
          </a:p>
        </p:txBody>
      </p:sp>
      <p:sp>
        <p:nvSpPr>
          <p:cNvPr id="8" name="Shape 6"/>
          <p:cNvSpPr/>
          <p:nvPr/>
        </p:nvSpPr>
        <p:spPr>
          <a:xfrm>
            <a:off x="2176272" y="1463040"/>
            <a:ext cx="1536192" cy="2103120"/>
          </a:xfrm>
          <a:prstGeom prst="roundRect">
            <a:avLst>
              <a:gd name="adj" fmla="val 5952"/>
            </a:avLst>
          </a:prstGeom>
          <a:solidFill>
            <a:srgbClr val="F3F4F6"/>
          </a:solidFill>
          <a:ln w="12700">
            <a:solidFill>
              <a:srgbClr val="F3F4F6"/>
            </a:solidFill>
            <a:prstDash val="solid"/>
          </a:ln>
        </p:spPr>
      </p:sp>
      <p:sp>
        <p:nvSpPr>
          <p:cNvPr id="9" name="Text 7"/>
          <p:cNvSpPr txBox="1"/>
          <p:nvPr/>
        </p:nvSpPr>
        <p:spPr>
          <a:xfrm>
            <a:off x="2267712" y="1600200"/>
            <a:ext cx="1371600" cy="640080"/>
          </a:xfrm>
          <a:prstGeom prst="rect">
            <a:avLst/>
          </a:prstGeom>
          <a:noFill/>
          <a:ln/>
        </p:spPr>
        <p:txBody>
          <a:bodyPr wrap="square" lIns="0" tIns="0" rIns="0" bIns="0" rtlCol="0" anchor="t"/>
          <a:lstStyle/>
          <a:p>
            <a:pPr indent="0" marL="0">
              <a:buNone/>
            </a:pPr>
            <a:r>
              <a:rPr lang="en-US" sz="1000" b="1" dirty="0">
                <a:solidFill>
                  <a:srgbClr val="6B7280"/>
                </a:solidFill>
                <a:latin typeface="Calibri" pitchFamily="34" charset="0"/>
                <a:ea typeface="Calibri" pitchFamily="34" charset="-122"/>
                <a:cs typeface="Calibri" pitchFamily="34" charset="-120"/>
              </a:rPr>
              <a:t>Count of Unit_Price_INR</a:t>
            </a:r>
            <a:endParaRPr lang="en-US" sz="1000" dirty="0"/>
          </a:p>
        </p:txBody>
      </p:sp>
      <p:sp>
        <p:nvSpPr>
          <p:cNvPr id="10" name="Text 8"/>
          <p:cNvSpPr txBox="1"/>
          <p:nvPr/>
        </p:nvSpPr>
        <p:spPr>
          <a:xfrm>
            <a:off x="2267712" y="2286000"/>
            <a:ext cx="1371600" cy="548640"/>
          </a:xfrm>
          <a:prstGeom prst="rect">
            <a:avLst/>
          </a:prstGeom>
          <a:noFill/>
          <a:ln/>
        </p:spPr>
        <p:txBody>
          <a:bodyPr wrap="square" lIns="0" tIns="0" rIns="0" bIns="0" rtlCol="0" anchor="ctr"/>
          <a:lstStyle/>
          <a:p>
            <a:pPr indent="0" marL="0">
              <a:buNone/>
            </a:pPr>
            <a:r>
              <a:rPr lang="en-US" sz="2600" b="1" dirty="0">
                <a:solidFill>
                  <a:srgbClr val="C8102E"/>
                </a:solidFill>
                <a:latin typeface="Cambria" pitchFamily="34" charset="0"/>
                <a:ea typeface="Cambria" pitchFamily="34" charset="-122"/>
                <a:cs typeface="Cambria" pitchFamily="34" charset="-120"/>
              </a:rPr>
              <a:t>755</a:t>
            </a:r>
            <a:endParaRPr lang="en-US" sz="2600" dirty="0"/>
          </a:p>
        </p:txBody>
      </p:sp>
      <p:sp>
        <p:nvSpPr>
          <p:cNvPr id="11" name="Text 9"/>
          <p:cNvSpPr txBox="1"/>
          <p:nvPr/>
        </p:nvSpPr>
        <p:spPr>
          <a:xfrm>
            <a:off x="2267712" y="2880360"/>
            <a:ext cx="1371600" cy="640080"/>
          </a:xfrm>
          <a:prstGeom prst="rect">
            <a:avLst/>
          </a:prstGeom>
          <a:noFill/>
          <a:ln/>
        </p:spPr>
        <p:txBody>
          <a:bodyPr wrap="square" lIns="0" tIns="0" rIns="0" bIns="0" rtlCol="0" anchor="t"/>
          <a:lstStyle/>
          <a:p>
            <a:pPr indent="0" marL="0">
              <a:buNone/>
            </a:pPr>
            <a:r>
              <a:rPr lang="en-US" sz="1200" dirty="0">
                <a:solidFill>
                  <a:srgbClr val="374151"/>
                </a:solidFill>
                <a:latin typeface="Calibri" pitchFamily="34" charset="0"/>
                <a:ea typeface="Calibri" pitchFamily="34" charset="-122"/>
                <a:cs typeface="Calibri" pitchFamily="34" charset="-120"/>
              </a:rPr>
              <a:t>Price count on the card; likely distinct prices</a:t>
            </a:r>
            <a:endParaRPr lang="en-US" sz="1200" dirty="0"/>
          </a:p>
        </p:txBody>
      </p:sp>
      <p:sp>
        <p:nvSpPr>
          <p:cNvPr id="12" name="Shape 10"/>
          <p:cNvSpPr/>
          <p:nvPr/>
        </p:nvSpPr>
        <p:spPr>
          <a:xfrm>
            <a:off x="3803904" y="1463040"/>
            <a:ext cx="1536192" cy="2103120"/>
          </a:xfrm>
          <a:prstGeom prst="roundRect">
            <a:avLst>
              <a:gd name="adj" fmla="val 5952"/>
            </a:avLst>
          </a:prstGeom>
          <a:solidFill>
            <a:srgbClr val="F3F4F6"/>
          </a:solidFill>
          <a:ln w="12700">
            <a:solidFill>
              <a:srgbClr val="F3F4F6"/>
            </a:solidFill>
            <a:prstDash val="solid"/>
          </a:ln>
        </p:spPr>
      </p:sp>
      <p:sp>
        <p:nvSpPr>
          <p:cNvPr id="13" name="Text 11"/>
          <p:cNvSpPr txBox="1"/>
          <p:nvPr/>
        </p:nvSpPr>
        <p:spPr>
          <a:xfrm>
            <a:off x="3895344" y="1600200"/>
            <a:ext cx="1371600" cy="640080"/>
          </a:xfrm>
          <a:prstGeom prst="rect">
            <a:avLst/>
          </a:prstGeom>
          <a:noFill/>
          <a:ln/>
        </p:spPr>
        <p:txBody>
          <a:bodyPr wrap="square" lIns="0" tIns="0" rIns="0" bIns="0" rtlCol="0" anchor="t"/>
          <a:lstStyle/>
          <a:p>
            <a:pPr indent="0" marL="0">
              <a:buNone/>
            </a:pPr>
            <a:r>
              <a:rPr lang="en-US" sz="1000" b="1" dirty="0">
                <a:solidFill>
                  <a:srgbClr val="6B7280"/>
                </a:solidFill>
                <a:latin typeface="Calibri" pitchFamily="34" charset="0"/>
                <a:ea typeface="Calibri" pitchFamily="34" charset="-122"/>
                <a:cs typeface="Calibri" pitchFamily="34" charset="-120"/>
              </a:rPr>
              <a:t>Count of Total_Sale_Value_INR</a:t>
            </a:r>
            <a:endParaRPr lang="en-US" sz="1000" dirty="0"/>
          </a:p>
        </p:txBody>
      </p:sp>
      <p:sp>
        <p:nvSpPr>
          <p:cNvPr id="14" name="Text 12"/>
          <p:cNvSpPr txBox="1"/>
          <p:nvPr/>
        </p:nvSpPr>
        <p:spPr>
          <a:xfrm>
            <a:off x="3895344" y="2286000"/>
            <a:ext cx="1371600" cy="548640"/>
          </a:xfrm>
          <a:prstGeom prst="rect">
            <a:avLst/>
          </a:prstGeom>
          <a:noFill/>
          <a:ln/>
        </p:spPr>
        <p:txBody>
          <a:bodyPr wrap="square" lIns="0" tIns="0" rIns="0" bIns="0" rtlCol="0" anchor="ctr"/>
          <a:lstStyle/>
          <a:p>
            <a:pPr indent="0" marL="0">
              <a:buNone/>
            </a:pPr>
            <a:r>
              <a:rPr lang="en-US" sz="2600" b="1" dirty="0">
                <a:solidFill>
                  <a:srgbClr val="C8102E"/>
                </a:solidFill>
                <a:latin typeface="Cambria" pitchFamily="34" charset="0"/>
                <a:ea typeface="Cambria" pitchFamily="34" charset="-122"/>
                <a:cs typeface="Cambria" pitchFamily="34" charset="-120"/>
              </a:rPr>
              <a:t>962</a:t>
            </a:r>
            <a:endParaRPr lang="en-US" sz="2600" dirty="0"/>
          </a:p>
        </p:txBody>
      </p:sp>
      <p:sp>
        <p:nvSpPr>
          <p:cNvPr id="15" name="Text 13"/>
          <p:cNvSpPr txBox="1"/>
          <p:nvPr/>
        </p:nvSpPr>
        <p:spPr>
          <a:xfrm>
            <a:off x="3895344" y="2880360"/>
            <a:ext cx="1371600" cy="640080"/>
          </a:xfrm>
          <a:prstGeom prst="rect">
            <a:avLst/>
          </a:prstGeom>
          <a:noFill/>
          <a:ln/>
        </p:spPr>
        <p:txBody>
          <a:bodyPr wrap="square" lIns="0" tIns="0" rIns="0" bIns="0" rtlCol="0" anchor="t"/>
          <a:lstStyle/>
          <a:p>
            <a:pPr indent="0" marL="0">
              <a:buNone/>
            </a:pPr>
            <a:r>
              <a:rPr lang="en-US" sz="1200" dirty="0">
                <a:solidFill>
                  <a:srgbClr val="374151"/>
                </a:solidFill>
                <a:latin typeface="Calibri" pitchFamily="34" charset="0"/>
                <a:ea typeface="Calibri" pitchFamily="34" charset="-122"/>
                <a:cs typeface="Calibri" pitchFamily="34" charset="-120"/>
              </a:rPr>
              <a:t>Sale-value count on the card</a:t>
            </a:r>
            <a:endParaRPr lang="en-US" sz="1200" dirty="0"/>
          </a:p>
        </p:txBody>
      </p:sp>
      <p:sp>
        <p:nvSpPr>
          <p:cNvPr id="16" name="Shape 14"/>
          <p:cNvSpPr/>
          <p:nvPr/>
        </p:nvSpPr>
        <p:spPr>
          <a:xfrm>
            <a:off x="5431536" y="1463040"/>
            <a:ext cx="1536192" cy="2103120"/>
          </a:xfrm>
          <a:prstGeom prst="roundRect">
            <a:avLst>
              <a:gd name="adj" fmla="val 5952"/>
            </a:avLst>
          </a:prstGeom>
          <a:solidFill>
            <a:srgbClr val="F3F4F6"/>
          </a:solidFill>
          <a:ln w="12700">
            <a:solidFill>
              <a:srgbClr val="F3F4F6"/>
            </a:solidFill>
            <a:prstDash val="solid"/>
          </a:ln>
        </p:spPr>
      </p:sp>
      <p:sp>
        <p:nvSpPr>
          <p:cNvPr id="17" name="Text 15"/>
          <p:cNvSpPr txBox="1"/>
          <p:nvPr/>
        </p:nvSpPr>
        <p:spPr>
          <a:xfrm>
            <a:off x="5522976" y="1600200"/>
            <a:ext cx="1371600" cy="640080"/>
          </a:xfrm>
          <a:prstGeom prst="rect">
            <a:avLst/>
          </a:prstGeom>
          <a:noFill/>
          <a:ln/>
        </p:spPr>
        <p:txBody>
          <a:bodyPr wrap="square" lIns="0" tIns="0" rIns="0" bIns="0" rtlCol="0" anchor="t"/>
          <a:lstStyle/>
          <a:p>
            <a:pPr indent="0" marL="0">
              <a:buNone/>
            </a:pPr>
            <a:r>
              <a:rPr lang="en-US" sz="1000" b="1" dirty="0">
                <a:solidFill>
                  <a:srgbClr val="6B7280"/>
                </a:solidFill>
                <a:latin typeface="Calibri" pitchFamily="34" charset="0"/>
                <a:ea typeface="Calibri" pitchFamily="34" charset="-122"/>
                <a:cs typeface="Calibri" pitchFamily="34" charset="-120"/>
              </a:rPr>
              <a:t>Sum of Discount_Percent</a:t>
            </a:r>
            <a:endParaRPr lang="en-US" sz="1000" dirty="0"/>
          </a:p>
        </p:txBody>
      </p:sp>
      <p:sp>
        <p:nvSpPr>
          <p:cNvPr id="18" name="Text 16"/>
          <p:cNvSpPr txBox="1"/>
          <p:nvPr/>
        </p:nvSpPr>
        <p:spPr>
          <a:xfrm>
            <a:off x="5522976" y="2286000"/>
            <a:ext cx="1371600" cy="548640"/>
          </a:xfrm>
          <a:prstGeom prst="rect">
            <a:avLst/>
          </a:prstGeom>
          <a:noFill/>
          <a:ln/>
        </p:spPr>
        <p:txBody>
          <a:bodyPr wrap="square" lIns="0" tIns="0" rIns="0" bIns="0" rtlCol="0" anchor="ctr"/>
          <a:lstStyle/>
          <a:p>
            <a:pPr indent="0" marL="0">
              <a:buNone/>
            </a:pPr>
            <a:r>
              <a:rPr lang="en-US" sz="2600" b="1" dirty="0">
                <a:solidFill>
                  <a:srgbClr val="C8102E"/>
                </a:solidFill>
                <a:latin typeface="Cambria" pitchFamily="34" charset="0"/>
                <a:ea typeface="Cambria" pitchFamily="34" charset="-122"/>
                <a:cs typeface="Cambria" pitchFamily="34" charset="-120"/>
              </a:rPr>
              <a:t>412K%</a:t>
            </a:r>
            <a:endParaRPr lang="en-US" sz="2600" dirty="0"/>
          </a:p>
        </p:txBody>
      </p:sp>
      <p:sp>
        <p:nvSpPr>
          <p:cNvPr id="19" name="Text 17"/>
          <p:cNvSpPr txBox="1"/>
          <p:nvPr/>
        </p:nvSpPr>
        <p:spPr>
          <a:xfrm>
            <a:off x="5522976" y="2880360"/>
            <a:ext cx="1371600" cy="640080"/>
          </a:xfrm>
          <a:prstGeom prst="rect">
            <a:avLst/>
          </a:prstGeom>
          <a:noFill/>
          <a:ln/>
        </p:spPr>
        <p:txBody>
          <a:bodyPr wrap="square" lIns="0" tIns="0" rIns="0" bIns="0" rtlCol="0" anchor="t"/>
          <a:lstStyle/>
          <a:p>
            <a:pPr indent="0" marL="0">
              <a:buNone/>
            </a:pPr>
            <a:r>
              <a:rPr lang="en-US" sz="1200" dirty="0">
                <a:solidFill>
                  <a:srgbClr val="374151"/>
                </a:solidFill>
                <a:latin typeface="Calibri" pitchFamily="34" charset="0"/>
                <a:ea typeface="Calibri" pitchFamily="34" charset="-122"/>
                <a:cs typeface="Calibri" pitchFamily="34" charset="-120"/>
              </a:rPr>
              <a:t>All discount percentages added together</a:t>
            </a:r>
            <a:endParaRPr lang="en-US" sz="1200" dirty="0"/>
          </a:p>
        </p:txBody>
      </p:sp>
      <p:sp>
        <p:nvSpPr>
          <p:cNvPr id="20" name="Shape 18"/>
          <p:cNvSpPr/>
          <p:nvPr/>
        </p:nvSpPr>
        <p:spPr>
          <a:xfrm>
            <a:off x="7059168" y="1463040"/>
            <a:ext cx="1536192" cy="2103120"/>
          </a:xfrm>
          <a:prstGeom prst="roundRect">
            <a:avLst>
              <a:gd name="adj" fmla="val 5952"/>
            </a:avLst>
          </a:prstGeom>
          <a:solidFill>
            <a:srgbClr val="F3F4F6"/>
          </a:solidFill>
          <a:ln w="12700">
            <a:solidFill>
              <a:srgbClr val="F3F4F6"/>
            </a:solidFill>
            <a:prstDash val="solid"/>
          </a:ln>
        </p:spPr>
      </p:sp>
      <p:sp>
        <p:nvSpPr>
          <p:cNvPr id="21" name="Text 19"/>
          <p:cNvSpPr txBox="1"/>
          <p:nvPr/>
        </p:nvSpPr>
        <p:spPr>
          <a:xfrm>
            <a:off x="7150608" y="1600200"/>
            <a:ext cx="1371600" cy="640080"/>
          </a:xfrm>
          <a:prstGeom prst="rect">
            <a:avLst/>
          </a:prstGeom>
          <a:noFill/>
          <a:ln/>
        </p:spPr>
        <p:txBody>
          <a:bodyPr wrap="square" lIns="0" tIns="0" rIns="0" bIns="0" rtlCol="0" anchor="t"/>
          <a:lstStyle/>
          <a:p>
            <a:pPr indent="0" marL="0">
              <a:buNone/>
            </a:pPr>
            <a:r>
              <a:rPr lang="en-US" sz="1000" b="1" dirty="0">
                <a:solidFill>
                  <a:srgbClr val="6B7280"/>
                </a:solidFill>
                <a:latin typeface="Calibri" pitchFamily="34" charset="0"/>
                <a:ea typeface="Calibri" pitchFamily="34" charset="-122"/>
                <a:cs typeface="Calibri" pitchFamily="34" charset="-120"/>
              </a:rPr>
              <a:t>Count of Final_Unit_Price_INR</a:t>
            </a:r>
            <a:endParaRPr lang="en-US" sz="1000" dirty="0"/>
          </a:p>
        </p:txBody>
      </p:sp>
      <p:sp>
        <p:nvSpPr>
          <p:cNvPr id="22" name="Text 20"/>
          <p:cNvSpPr txBox="1"/>
          <p:nvPr/>
        </p:nvSpPr>
        <p:spPr>
          <a:xfrm>
            <a:off x="7150608" y="2286000"/>
            <a:ext cx="1371600" cy="548640"/>
          </a:xfrm>
          <a:prstGeom prst="rect">
            <a:avLst/>
          </a:prstGeom>
          <a:noFill/>
          <a:ln/>
        </p:spPr>
        <p:txBody>
          <a:bodyPr wrap="square" lIns="0" tIns="0" rIns="0" bIns="0" rtlCol="0" anchor="ctr"/>
          <a:lstStyle/>
          <a:p>
            <a:pPr indent="0" marL="0">
              <a:buNone/>
            </a:pPr>
            <a:r>
              <a:rPr lang="en-US" sz="2600" b="1" dirty="0">
                <a:solidFill>
                  <a:srgbClr val="C8102E"/>
                </a:solidFill>
                <a:latin typeface="Cambria" pitchFamily="34" charset="0"/>
                <a:ea typeface="Cambria" pitchFamily="34" charset="-122"/>
                <a:cs typeface="Cambria" pitchFamily="34" charset="-120"/>
              </a:rPr>
              <a:t>955</a:t>
            </a:r>
            <a:endParaRPr lang="en-US" sz="2600" dirty="0"/>
          </a:p>
        </p:txBody>
      </p:sp>
      <p:sp>
        <p:nvSpPr>
          <p:cNvPr id="23" name="Text 21"/>
          <p:cNvSpPr txBox="1"/>
          <p:nvPr/>
        </p:nvSpPr>
        <p:spPr>
          <a:xfrm>
            <a:off x="7150608" y="2880360"/>
            <a:ext cx="1371600" cy="640080"/>
          </a:xfrm>
          <a:prstGeom prst="rect">
            <a:avLst/>
          </a:prstGeom>
          <a:noFill/>
          <a:ln/>
        </p:spPr>
        <p:txBody>
          <a:bodyPr wrap="square" lIns="0" tIns="0" rIns="0" bIns="0" rtlCol="0" anchor="t"/>
          <a:lstStyle/>
          <a:p>
            <a:pPr indent="0" marL="0">
              <a:buNone/>
            </a:pPr>
            <a:r>
              <a:rPr lang="en-US" sz="1200" dirty="0">
                <a:solidFill>
                  <a:srgbClr val="374151"/>
                </a:solidFill>
                <a:latin typeface="Calibri" pitchFamily="34" charset="0"/>
                <a:ea typeface="Calibri" pitchFamily="34" charset="-122"/>
                <a:cs typeface="Calibri" pitchFamily="34" charset="-120"/>
              </a:rPr>
              <a:t>Final price count after discount</a:t>
            </a:r>
            <a:endParaRPr lang="en-US" sz="1200" dirty="0"/>
          </a:p>
        </p:txBody>
      </p:sp>
      <p:sp>
        <p:nvSpPr>
          <p:cNvPr id="24" name="Text 22"/>
          <p:cNvSpPr txBox="1"/>
          <p:nvPr/>
        </p:nvSpPr>
        <p:spPr>
          <a:xfrm>
            <a:off x="548640" y="3794760"/>
            <a:ext cx="8046720" cy="731520"/>
          </a:xfrm>
          <a:prstGeom prst="rect">
            <a:avLst/>
          </a:prstGeom>
          <a:noFill/>
          <a:ln/>
        </p:spPr>
        <p:txBody>
          <a:bodyPr wrap="square" lIns="0" tIns="0" rIns="0" bIns="0" rtlCol="0" anchor="t"/>
          <a:lstStyle/>
          <a:p>
            <a:pPr indent="0" marL="0">
              <a:buNone/>
            </a:pPr>
            <a:r>
              <a:rPr lang="en-US" sz="1400" b="1" dirty="0">
                <a:solidFill>
                  <a:srgbClr val="1B1F24"/>
                </a:solidFill>
                <a:latin typeface="Calibri" pitchFamily="34" charset="0"/>
                <a:ea typeface="Calibri" pitchFamily="34" charset="-122"/>
                <a:cs typeface="Calibri" pitchFamily="34" charset="-120"/>
              </a:rPr>
              <a:t>Heads-up: </a:t>
            </a:r>
            <a:pPr indent="0" marL="0">
              <a:buNone/>
            </a:pPr>
            <a:r>
              <a:rPr lang="en-US" sz="1400" dirty="0">
                <a:solidFill>
                  <a:srgbClr val="374151"/>
                </a:solidFill>
                <a:latin typeface="Calibri" pitchFamily="34" charset="0"/>
                <a:ea typeface="Calibri" pitchFamily="34" charset="-122"/>
                <a:cs typeface="Calibri" pitchFamily="34" charset="-120"/>
              </a:rPr>
              <a:t>the 755 / 962 / 955 counts sit below the 1K sales total, and 412K% is a summed percentage. See the </a:t>
            </a:r>
            <a:pPr indent="0" marL="0">
              <a:buNone/>
            </a:pPr>
            <a:r>
              <a:rPr lang="en-US" sz="1400" u="sng" dirty="0">
                <a:solidFill>
                  <a:srgbClr val="374151"/>
                </a:solidFill>
                <a:latin typeface="Calibri" pitchFamily="34" charset="0"/>
                <a:ea typeface="Calibri" pitchFamily="34" charset="-122"/>
                <a:cs typeface="Calibri" pitchFamily="34" charset="-120"/>
                <a:hlinkClick r:id="rId1" action="ppaction://hlinksldjump" tooltip="Go to Data health check">
                  <a:extLst>
                    <a:ext uri="{A12FA001-AC4F-418D-AE19-62706E023703}">
                      <ahyp:hlinkClr xmlns:ahyp="http://schemas.microsoft.com/office/drawing/2018/hyperlinkcolor" val="tx"/>
                    </a:ext>
                  </a:extLst>
                </a:hlinkClick>
              </a:rPr>
              <a:t>Data health check →</a:t>
            </a:r>
            <a:endParaRPr lang="en-US" sz="1400" dirty="0"/>
          </a:p>
        </p:txBody>
      </p:sp>
      <p:sp>
        <p:nvSpPr>
          <p:cNvPr id="25" name="Text 23"/>
          <p:cNvSpPr txBox="1"/>
          <p:nvPr/>
        </p:nvSpPr>
        <p:spPr>
          <a:xfrm>
            <a:off x="548640" y="4754880"/>
            <a:ext cx="45720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Source: Mahindra Cars &amp; Tractors Sales dashboard</a:t>
            </a:r>
            <a:endParaRPr lang="en-US" sz="1000" dirty="0"/>
          </a:p>
        </p:txBody>
      </p:sp>
      <p:sp>
        <p:nvSpPr>
          <p:cNvPr id="26" name="Shape 24"/>
          <p:cNvSpPr/>
          <p:nvPr/>
        </p:nvSpPr>
        <p:spPr>
          <a:xfrm>
            <a:off x="6903720" y="4727448"/>
            <a:ext cx="1188720" cy="292608"/>
          </a:xfrm>
          <a:prstGeom prst="roundRect">
            <a:avLst>
              <a:gd name="adj" fmla="val 25000"/>
            </a:avLst>
          </a:prstGeom>
          <a:solidFill>
            <a:srgbClr val="F3F4F6"/>
          </a:solidFill>
          <a:ln w="12700">
            <a:solidFill>
              <a:srgbClr val="F3F4F6"/>
            </a:solidFill>
            <a:prstDash val="solid"/>
          </a:ln>
        </p:spPr>
      </p:sp>
      <p:sp>
        <p:nvSpPr>
          <p:cNvPr id="27" name="Text 25">
            <a:hlinkClick r:id="rId2" tooltip="Back to agenda" action="ppaction://hlinksldjump"/>
          </p:cNvPr>
          <p:cNvSpPr txBox="1"/>
          <p:nvPr/>
        </p:nvSpPr>
        <p:spPr>
          <a:xfrm>
            <a:off x="6903720" y="4727448"/>
            <a:ext cx="1188720" cy="292608"/>
          </a:xfrm>
          <a:prstGeom prst="rect">
            <a:avLst/>
          </a:prstGeom>
          <a:noFill/>
          <a:ln/>
        </p:spPr>
        <p:txBody>
          <a:bodyPr wrap="square" lIns="0" tIns="0" rIns="0" bIns="0" rtlCol="0" anchor="ctr"/>
          <a:lstStyle/>
          <a:p>
            <a:pPr algn="ctr" indent="0" marL="0">
              <a:buNone/>
            </a:pPr>
            <a:r>
              <a:rPr lang="en-US" sz="1100" u="sng" dirty="0">
                <a:solidFill>
                  <a:srgbClr val="374151"/>
                </a:solidFill>
                <a:latin typeface="Calibri" pitchFamily="34" charset="0"/>
                <a:ea typeface="Calibri" pitchFamily="34" charset="-122"/>
                <a:cs typeface="Calibri" pitchFamily="34" charset="-120"/>
                <a:hlinkClick r:id="rId2"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94360"/>
          </a:xfrm>
          <a:prstGeom prst="rect">
            <a:avLst/>
          </a:prstGeom>
          <a:noFill/>
          <a:ln/>
        </p:spPr>
        <p:txBody>
          <a:bodyPr wrap="square" lIns="0" tIns="0" rIns="0" bIns="0" rtlCol="0" anchor="ctr"/>
          <a:lstStyle/>
          <a:p>
            <a:pPr indent="0" marL="0">
              <a:buNone/>
            </a:pPr>
            <a:r>
              <a:rPr lang="en-US" sz="3200" b="1" dirty="0">
                <a:solidFill>
                  <a:srgbClr val="1B1F24"/>
                </a:solidFill>
                <a:latin typeface="Cambria" pitchFamily="34" charset="0"/>
                <a:ea typeface="Cambria" pitchFamily="34" charset="-122"/>
                <a:cs typeface="Cambria" pitchFamily="34" charset="-120"/>
              </a:rPr>
              <a:t>Model share of units</a:t>
            </a:r>
            <a:endParaRPr lang="en-US" sz="3200" dirty="0"/>
          </a:p>
        </p:txBody>
      </p:sp>
      <p:sp>
        <p:nvSpPr>
          <p:cNvPr id="3" name="Text 1"/>
          <p:cNvSpPr txBox="1"/>
          <p:nvPr/>
        </p:nvSpPr>
        <p:spPr>
          <a:xfrm>
            <a:off x="548640" y="914400"/>
            <a:ext cx="8046720"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Five models split the units almost evenly</a:t>
            </a:r>
            <a:endParaRPr lang="en-US" sz="1600" dirty="0"/>
          </a:p>
        </p:txBody>
      </p:sp>
      <p:graphicFrame>
        <p:nvGraphicFramePr>
          <p:cNvPr id="4" name="Chart 0" descr=""/>
          <p:cNvGraphicFramePr/>
          <p:nvPr/>
        </p:nvGraphicFramePr>
        <p:xfrm>
          <a:off x="457200" y="1371600"/>
          <a:ext cx="8229600" cy="1737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 y="3291840"/>
            <a:ext cx="2560320" cy="1280160"/>
          </a:xfrm>
          <a:prstGeom prst="roundRect">
            <a:avLst>
              <a:gd name="adj" fmla="val 7143"/>
            </a:avLst>
          </a:prstGeom>
          <a:solidFill>
            <a:srgbClr val="F3F4F6"/>
          </a:solidFill>
          <a:ln w="12700">
            <a:solidFill>
              <a:srgbClr val="F3F4F6"/>
            </a:solidFill>
            <a:prstDash val="solid"/>
          </a:ln>
        </p:spPr>
      </p:sp>
      <p:sp>
        <p:nvSpPr>
          <p:cNvPr id="6" name="Text 3"/>
          <p:cNvSpPr txBox="1"/>
          <p:nvPr/>
        </p:nvSpPr>
        <p:spPr>
          <a:xfrm>
            <a:off x="731520" y="3383280"/>
            <a:ext cx="2194560" cy="457200"/>
          </a:xfrm>
          <a:prstGeom prst="rect">
            <a:avLst/>
          </a:prstGeom>
          <a:noFill/>
          <a:ln/>
        </p:spPr>
        <p:txBody>
          <a:bodyPr wrap="square" lIns="0" tIns="0" rIns="0" bIns="0" rtlCol="0" anchor="ctr"/>
          <a:lstStyle/>
          <a:p>
            <a:pPr indent="0" marL="0">
              <a:buNone/>
            </a:pPr>
            <a:r>
              <a:rPr lang="en-US" sz="2600" b="1" dirty="0">
                <a:solidFill>
                  <a:srgbClr val="C8102E"/>
                </a:solidFill>
                <a:latin typeface="Cambria" pitchFamily="34" charset="0"/>
                <a:ea typeface="Cambria" pitchFamily="34" charset="-122"/>
                <a:cs typeface="Cambria" pitchFamily="34" charset="-120"/>
              </a:rPr>
              <a:t>≈22%</a:t>
            </a:r>
            <a:endParaRPr lang="en-US" sz="2600" dirty="0"/>
          </a:p>
        </p:txBody>
      </p:sp>
      <p:sp>
        <p:nvSpPr>
          <p:cNvPr id="7" name="Text 4"/>
          <p:cNvSpPr txBox="1"/>
          <p:nvPr/>
        </p:nvSpPr>
        <p:spPr>
          <a:xfrm>
            <a:off x="731520" y="3886200"/>
            <a:ext cx="2194560" cy="640080"/>
          </a:xfrm>
          <a:prstGeom prst="rect">
            <a:avLst/>
          </a:prstGeom>
          <a:noFill/>
          <a:ln/>
        </p:spPr>
        <p:txBody>
          <a:bodyPr wrap="square" lIns="0" tIns="0" rIns="0" bIns="0" rtlCol="0" anchor="t"/>
          <a:lstStyle/>
          <a:p>
            <a:pPr indent="0" marL="0">
              <a:buNone/>
            </a:pPr>
            <a:r>
              <a:rPr lang="en-US" sz="1300" dirty="0">
                <a:solidFill>
                  <a:srgbClr val="374151"/>
                </a:solidFill>
                <a:latin typeface="Calibri" pitchFamily="34" charset="0"/>
                <a:ea typeface="Calibri" pitchFamily="34" charset="-122"/>
                <a:cs typeface="Calibri" pitchFamily="34" charset="-120"/>
              </a:rPr>
              <a:t>XUV700 takes the largest slice of units sold</a:t>
            </a:r>
            <a:endParaRPr lang="en-US" sz="1300" dirty="0"/>
          </a:p>
        </p:txBody>
      </p:sp>
      <p:sp>
        <p:nvSpPr>
          <p:cNvPr id="8" name="Shape 5"/>
          <p:cNvSpPr/>
          <p:nvPr/>
        </p:nvSpPr>
        <p:spPr>
          <a:xfrm>
            <a:off x="3291840" y="3291840"/>
            <a:ext cx="2560320" cy="1280160"/>
          </a:xfrm>
          <a:prstGeom prst="roundRect">
            <a:avLst>
              <a:gd name="adj" fmla="val 7143"/>
            </a:avLst>
          </a:prstGeom>
          <a:solidFill>
            <a:srgbClr val="F3F4F6"/>
          </a:solidFill>
          <a:ln w="12700">
            <a:solidFill>
              <a:srgbClr val="F3F4F6"/>
            </a:solidFill>
            <a:prstDash val="solid"/>
          </a:ln>
        </p:spPr>
      </p:sp>
      <p:sp>
        <p:nvSpPr>
          <p:cNvPr id="9" name="Text 6"/>
          <p:cNvSpPr txBox="1"/>
          <p:nvPr/>
        </p:nvSpPr>
        <p:spPr>
          <a:xfrm>
            <a:off x="3474720" y="3383280"/>
            <a:ext cx="2194560" cy="457200"/>
          </a:xfrm>
          <a:prstGeom prst="rect">
            <a:avLst/>
          </a:prstGeom>
          <a:noFill/>
          <a:ln/>
        </p:spPr>
        <p:txBody>
          <a:bodyPr wrap="square" lIns="0" tIns="0" rIns="0" bIns="0" rtlCol="0" anchor="ctr"/>
          <a:lstStyle/>
          <a:p>
            <a:pPr indent="0" marL="0">
              <a:buNone/>
            </a:pPr>
            <a:r>
              <a:rPr lang="en-US" sz="2600" b="1" dirty="0">
                <a:solidFill>
                  <a:srgbClr val="C8102E"/>
                </a:solidFill>
                <a:latin typeface="Cambria" pitchFamily="34" charset="0"/>
                <a:ea typeface="Cambria" pitchFamily="34" charset="-122"/>
                <a:cs typeface="Cambria" pitchFamily="34" charset="-120"/>
              </a:rPr>
              <a:t>≈4 pts</a:t>
            </a:r>
            <a:endParaRPr lang="en-US" sz="2600" dirty="0"/>
          </a:p>
        </p:txBody>
      </p:sp>
      <p:sp>
        <p:nvSpPr>
          <p:cNvPr id="10" name="Text 7"/>
          <p:cNvSpPr txBox="1"/>
          <p:nvPr/>
        </p:nvSpPr>
        <p:spPr>
          <a:xfrm>
            <a:off x="3474720" y="3886200"/>
            <a:ext cx="2194560" cy="640080"/>
          </a:xfrm>
          <a:prstGeom prst="rect">
            <a:avLst/>
          </a:prstGeom>
          <a:noFill/>
          <a:ln/>
        </p:spPr>
        <p:txBody>
          <a:bodyPr wrap="square" lIns="0" tIns="0" rIns="0" bIns="0" rtlCol="0" anchor="t"/>
          <a:lstStyle/>
          <a:p>
            <a:pPr indent="0" marL="0">
              <a:buNone/>
            </a:pPr>
            <a:r>
              <a:rPr lang="en-US" sz="1300" dirty="0">
                <a:solidFill>
                  <a:srgbClr val="374151"/>
                </a:solidFill>
                <a:latin typeface="Calibri" pitchFamily="34" charset="0"/>
                <a:ea typeface="Calibri" pitchFamily="34" charset="-122"/>
                <a:cs typeface="Calibri" pitchFamily="34" charset="-120"/>
              </a:rPr>
              <a:t>Gap between the biggest (XUV700) and smallest (Thar) slice</a:t>
            </a:r>
            <a:endParaRPr lang="en-US" sz="1300" dirty="0"/>
          </a:p>
        </p:txBody>
      </p:sp>
      <p:sp>
        <p:nvSpPr>
          <p:cNvPr id="11" name="Shape 8"/>
          <p:cNvSpPr/>
          <p:nvPr/>
        </p:nvSpPr>
        <p:spPr>
          <a:xfrm>
            <a:off x="6035040" y="3291840"/>
            <a:ext cx="2560320" cy="1280160"/>
          </a:xfrm>
          <a:prstGeom prst="roundRect">
            <a:avLst>
              <a:gd name="adj" fmla="val 7143"/>
            </a:avLst>
          </a:prstGeom>
          <a:solidFill>
            <a:srgbClr val="F3F4F6"/>
          </a:solidFill>
          <a:ln w="12700">
            <a:solidFill>
              <a:srgbClr val="F3F4F6"/>
            </a:solidFill>
            <a:prstDash val="solid"/>
          </a:ln>
        </p:spPr>
      </p:sp>
      <p:sp>
        <p:nvSpPr>
          <p:cNvPr id="12" name="Text 9"/>
          <p:cNvSpPr txBox="1"/>
          <p:nvPr/>
        </p:nvSpPr>
        <p:spPr>
          <a:xfrm>
            <a:off x="6217920" y="3383280"/>
            <a:ext cx="2194560" cy="457200"/>
          </a:xfrm>
          <a:prstGeom prst="rect">
            <a:avLst/>
          </a:prstGeom>
          <a:noFill/>
          <a:ln/>
        </p:spPr>
        <p:txBody>
          <a:bodyPr wrap="square" lIns="0" tIns="0" rIns="0" bIns="0" rtlCol="0" anchor="ctr"/>
          <a:lstStyle/>
          <a:p>
            <a:pPr indent="0" marL="0">
              <a:buNone/>
            </a:pPr>
            <a:r>
              <a:rPr lang="en-US" sz="2600" b="1" dirty="0">
                <a:solidFill>
                  <a:srgbClr val="C8102E"/>
                </a:solidFill>
                <a:latin typeface="Cambria" pitchFamily="34" charset="0"/>
                <a:ea typeface="Cambria" pitchFamily="34" charset="-122"/>
                <a:cs typeface="Cambria" pitchFamily="34" charset="-120"/>
              </a:rPr>
              <a:t>Top 5</a:t>
            </a:r>
            <a:endParaRPr lang="en-US" sz="2600" dirty="0"/>
          </a:p>
        </p:txBody>
      </p:sp>
      <p:sp>
        <p:nvSpPr>
          <p:cNvPr id="13" name="Text 10"/>
          <p:cNvSpPr txBox="1"/>
          <p:nvPr/>
        </p:nvSpPr>
        <p:spPr>
          <a:xfrm>
            <a:off x="6217920" y="3886200"/>
            <a:ext cx="2194560" cy="640080"/>
          </a:xfrm>
          <a:prstGeom prst="rect">
            <a:avLst/>
          </a:prstGeom>
          <a:noFill/>
          <a:ln/>
        </p:spPr>
        <p:txBody>
          <a:bodyPr wrap="square" lIns="0" tIns="0" rIns="0" bIns="0" rtlCol="0" anchor="t"/>
          <a:lstStyle/>
          <a:p>
            <a:pPr indent="0" marL="0">
              <a:buNone/>
            </a:pPr>
            <a:r>
              <a:rPr lang="en-US" sz="1300" dirty="0">
                <a:solidFill>
                  <a:srgbClr val="374151"/>
                </a:solidFill>
                <a:latin typeface="Calibri" pitchFamily="34" charset="0"/>
                <a:ea typeface="Calibri" pitchFamily="34" charset="-122"/>
                <a:cs typeface="Calibri" pitchFamily="34" charset="-120"/>
              </a:rPr>
              <a:t>Only five models appear in this view; the next slides cover all ten</a:t>
            </a:r>
            <a:endParaRPr lang="en-US" sz="1300" dirty="0"/>
          </a:p>
        </p:txBody>
      </p:sp>
      <p:sp>
        <p:nvSpPr>
          <p:cNvPr id="14" name="Text 11"/>
          <p:cNvSpPr txBox="1"/>
          <p:nvPr/>
        </p:nvSpPr>
        <p:spPr>
          <a:xfrm>
            <a:off x="548640" y="4754880"/>
            <a:ext cx="45720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Source: Mahindra Cars &amp; Tractors Sales dashboard</a:t>
            </a:r>
            <a:endParaRPr lang="en-US" sz="1000" dirty="0"/>
          </a:p>
        </p:txBody>
      </p:sp>
      <p:sp>
        <p:nvSpPr>
          <p:cNvPr id="15" name="Shape 12"/>
          <p:cNvSpPr/>
          <p:nvPr/>
        </p:nvSpPr>
        <p:spPr>
          <a:xfrm>
            <a:off x="6903720" y="4727448"/>
            <a:ext cx="1188720" cy="292608"/>
          </a:xfrm>
          <a:prstGeom prst="roundRect">
            <a:avLst>
              <a:gd name="adj" fmla="val 25000"/>
            </a:avLst>
          </a:prstGeom>
          <a:solidFill>
            <a:srgbClr val="F3F4F6"/>
          </a:solidFill>
          <a:ln w="12700">
            <a:solidFill>
              <a:srgbClr val="F3F4F6"/>
            </a:solidFill>
            <a:prstDash val="solid"/>
          </a:ln>
        </p:spPr>
      </p:sp>
      <p:sp>
        <p:nvSpPr>
          <p:cNvPr id="16" name="Text 13">
            <a:hlinkClick r:id="rId2" tooltip="Back to agenda" action="ppaction://hlinksldjump"/>
          </p:cNvPr>
          <p:cNvSpPr txBox="1"/>
          <p:nvPr/>
        </p:nvSpPr>
        <p:spPr>
          <a:xfrm>
            <a:off x="6903720" y="4727448"/>
            <a:ext cx="1188720" cy="292608"/>
          </a:xfrm>
          <a:prstGeom prst="rect">
            <a:avLst/>
          </a:prstGeom>
          <a:noFill/>
          <a:ln/>
        </p:spPr>
        <p:txBody>
          <a:bodyPr wrap="square" lIns="0" tIns="0" rIns="0" bIns="0" rtlCol="0" anchor="ctr"/>
          <a:lstStyle/>
          <a:p>
            <a:pPr algn="ctr" indent="0" marL="0">
              <a:buNone/>
            </a:pPr>
            <a:r>
              <a:rPr lang="en-US" sz="1100" u="sng" dirty="0">
                <a:solidFill>
                  <a:srgbClr val="374151"/>
                </a:solidFill>
                <a:latin typeface="Calibri" pitchFamily="34" charset="0"/>
                <a:ea typeface="Calibri" pitchFamily="34" charset="-122"/>
                <a:cs typeface="Calibri" pitchFamily="34" charset="-120"/>
                <a:hlinkClick r:id="rId2"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94360"/>
          </a:xfrm>
          <a:prstGeom prst="rect">
            <a:avLst/>
          </a:prstGeom>
          <a:noFill/>
          <a:ln/>
        </p:spPr>
        <p:txBody>
          <a:bodyPr wrap="square" lIns="0" tIns="0" rIns="0" bIns="0" rtlCol="0" anchor="ctr"/>
          <a:lstStyle/>
          <a:p>
            <a:pPr indent="0" marL="0">
              <a:buNone/>
            </a:pPr>
            <a:r>
              <a:rPr lang="en-US" sz="3200" b="1" dirty="0">
                <a:solidFill>
                  <a:srgbClr val="1B1F24"/>
                </a:solidFill>
                <a:latin typeface="Cambria" pitchFamily="34" charset="0"/>
                <a:ea typeface="Cambria" pitchFamily="34" charset="-122"/>
                <a:cs typeface="Cambria" pitchFamily="34" charset="-120"/>
              </a:rPr>
              <a:t>Model popularity</a:t>
            </a:r>
            <a:endParaRPr lang="en-US" sz="3200" dirty="0"/>
          </a:p>
        </p:txBody>
      </p:sp>
      <p:sp>
        <p:nvSpPr>
          <p:cNvPr id="3" name="Text 1"/>
          <p:cNvSpPr txBox="1"/>
          <p:nvPr/>
        </p:nvSpPr>
        <p:spPr>
          <a:xfrm>
            <a:off x="548640" y="914400"/>
            <a:ext cx="8046720"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Count of sales records for all ten models</a:t>
            </a:r>
            <a:endParaRPr lang="en-US" sz="1600" dirty="0"/>
          </a:p>
        </p:txBody>
      </p:sp>
      <p:graphicFrame>
        <p:nvGraphicFramePr>
          <p:cNvPr id="4" name="Chart 0" descr=""/>
          <p:cNvGraphicFramePr/>
          <p:nvPr/>
        </p:nvGraphicFramePr>
        <p:xfrm>
          <a:off x="457200" y="1371600"/>
          <a:ext cx="5669280" cy="32461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355080" y="1463040"/>
            <a:ext cx="2240280" cy="3063240"/>
          </a:xfrm>
          <a:prstGeom prst="roundRect">
            <a:avLst>
              <a:gd name="adj" fmla="val 4082"/>
            </a:avLst>
          </a:prstGeom>
          <a:solidFill>
            <a:srgbClr val="F3F4F6"/>
          </a:solidFill>
          <a:ln w="12700">
            <a:solidFill>
              <a:srgbClr val="F3F4F6"/>
            </a:solidFill>
            <a:prstDash val="solid"/>
          </a:ln>
        </p:spPr>
      </p:sp>
      <p:sp>
        <p:nvSpPr>
          <p:cNvPr id="6" name="Text 3"/>
          <p:cNvSpPr txBox="1"/>
          <p:nvPr/>
        </p:nvSpPr>
        <p:spPr>
          <a:xfrm>
            <a:off x="6537960" y="1600200"/>
            <a:ext cx="1920240" cy="502920"/>
          </a:xfrm>
          <a:prstGeom prst="rect">
            <a:avLst/>
          </a:prstGeom>
          <a:noFill/>
          <a:ln/>
        </p:spPr>
        <p:txBody>
          <a:bodyPr wrap="square" lIns="0" tIns="0" rIns="0" bIns="0" rtlCol="0" anchor="ctr"/>
          <a:lstStyle/>
          <a:p>
            <a:pPr indent="0" marL="0">
              <a:buNone/>
            </a:pPr>
            <a:r>
              <a:rPr lang="en-US" sz="3200" b="1" dirty="0">
                <a:solidFill>
                  <a:srgbClr val="C8102E"/>
                </a:solidFill>
                <a:latin typeface="Cambria" pitchFamily="34" charset="0"/>
                <a:ea typeface="Cambria" pitchFamily="34" charset="-122"/>
                <a:cs typeface="Cambria" pitchFamily="34" charset="-120"/>
              </a:rPr>
              <a:t>116</a:t>
            </a:r>
            <a:endParaRPr lang="en-US" sz="3200" dirty="0"/>
          </a:p>
        </p:txBody>
      </p:sp>
      <p:sp>
        <p:nvSpPr>
          <p:cNvPr id="7" name="Text 4"/>
          <p:cNvSpPr txBox="1"/>
          <p:nvPr/>
        </p:nvSpPr>
        <p:spPr>
          <a:xfrm>
            <a:off x="6537960" y="2103120"/>
            <a:ext cx="1920240" cy="365760"/>
          </a:xfrm>
          <a:prstGeom prst="rect">
            <a:avLst/>
          </a:prstGeom>
          <a:noFill/>
          <a:ln/>
        </p:spPr>
        <p:txBody>
          <a:bodyPr wrap="square" lIns="0" tIns="0" rIns="0" bIns="0" rtlCol="0" anchor="t"/>
          <a:lstStyle/>
          <a:p>
            <a:pPr indent="0" marL="0">
              <a:buNone/>
            </a:pPr>
            <a:r>
              <a:rPr lang="en-US" sz="1300" dirty="0">
                <a:solidFill>
                  <a:srgbClr val="374151"/>
                </a:solidFill>
                <a:latin typeface="Calibri" pitchFamily="34" charset="0"/>
                <a:ea typeface="Calibri" pitchFamily="34" charset="-122"/>
                <a:cs typeface="Calibri" pitchFamily="34" charset="-120"/>
              </a:rPr>
              <a:t>XUV700, the most-sold model</a:t>
            </a:r>
            <a:endParaRPr lang="en-US" sz="1300" dirty="0"/>
          </a:p>
        </p:txBody>
      </p:sp>
      <p:sp>
        <p:nvSpPr>
          <p:cNvPr id="8" name="Text 5"/>
          <p:cNvSpPr txBox="1"/>
          <p:nvPr/>
        </p:nvSpPr>
        <p:spPr>
          <a:xfrm>
            <a:off x="6537960" y="2560320"/>
            <a:ext cx="1920240" cy="502920"/>
          </a:xfrm>
          <a:prstGeom prst="rect">
            <a:avLst/>
          </a:prstGeom>
          <a:noFill/>
          <a:ln/>
        </p:spPr>
        <p:txBody>
          <a:bodyPr wrap="square" lIns="0" tIns="0" rIns="0" bIns="0" rtlCol="0" anchor="ctr"/>
          <a:lstStyle/>
          <a:p>
            <a:pPr indent="0" marL="0">
              <a:buNone/>
            </a:pPr>
            <a:r>
              <a:rPr lang="en-US" sz="3200" b="1" dirty="0">
                <a:solidFill>
                  <a:srgbClr val="64748B"/>
                </a:solidFill>
                <a:latin typeface="Cambria" pitchFamily="34" charset="0"/>
                <a:ea typeface="Cambria" pitchFamily="34" charset="-122"/>
                <a:cs typeface="Cambria" pitchFamily="34" charset="-120"/>
              </a:rPr>
              <a:t>90</a:t>
            </a:r>
            <a:endParaRPr lang="en-US" sz="3200" dirty="0"/>
          </a:p>
        </p:txBody>
      </p:sp>
      <p:sp>
        <p:nvSpPr>
          <p:cNvPr id="9" name="Text 6"/>
          <p:cNvSpPr txBox="1"/>
          <p:nvPr/>
        </p:nvSpPr>
        <p:spPr>
          <a:xfrm>
            <a:off x="6537960" y="3063240"/>
            <a:ext cx="1920240" cy="365760"/>
          </a:xfrm>
          <a:prstGeom prst="rect">
            <a:avLst/>
          </a:prstGeom>
          <a:noFill/>
          <a:ln/>
        </p:spPr>
        <p:txBody>
          <a:bodyPr wrap="square" lIns="0" tIns="0" rIns="0" bIns="0" rtlCol="0" anchor="t"/>
          <a:lstStyle/>
          <a:p>
            <a:pPr indent="0" marL="0">
              <a:buNone/>
            </a:pPr>
            <a:r>
              <a:rPr lang="en-US" sz="1300" dirty="0">
                <a:solidFill>
                  <a:srgbClr val="374151"/>
                </a:solidFill>
                <a:latin typeface="Calibri" pitchFamily="34" charset="0"/>
                <a:ea typeface="Calibri" pitchFamily="34" charset="-122"/>
                <a:cs typeface="Calibri" pitchFamily="34" charset="-120"/>
              </a:rPr>
              <a:t>Bolero, the lowest of the ten</a:t>
            </a:r>
            <a:endParaRPr lang="en-US" sz="1300" dirty="0"/>
          </a:p>
        </p:txBody>
      </p:sp>
      <p:sp>
        <p:nvSpPr>
          <p:cNvPr id="10" name="Text 7"/>
          <p:cNvSpPr txBox="1"/>
          <p:nvPr/>
        </p:nvSpPr>
        <p:spPr>
          <a:xfrm>
            <a:off x="6537960" y="3520440"/>
            <a:ext cx="1920240" cy="502920"/>
          </a:xfrm>
          <a:prstGeom prst="rect">
            <a:avLst/>
          </a:prstGeom>
          <a:noFill/>
          <a:ln/>
        </p:spPr>
        <p:txBody>
          <a:bodyPr wrap="square" lIns="0" tIns="0" rIns="0" bIns="0" rtlCol="0" anchor="ctr"/>
          <a:lstStyle/>
          <a:p>
            <a:pPr indent="0" marL="0">
              <a:buNone/>
            </a:pPr>
            <a:r>
              <a:rPr lang="en-US" sz="3200" b="1" dirty="0">
                <a:solidFill>
                  <a:srgbClr val="2F6B7A"/>
                </a:solidFill>
                <a:latin typeface="Cambria" pitchFamily="34" charset="0"/>
                <a:ea typeface="Cambria" pitchFamily="34" charset="-122"/>
                <a:cs typeface="Cambria" pitchFamily="34" charset="-120"/>
              </a:rPr>
              <a:t>≈100</a:t>
            </a:r>
            <a:endParaRPr lang="en-US" sz="3200" dirty="0"/>
          </a:p>
        </p:txBody>
      </p:sp>
      <p:sp>
        <p:nvSpPr>
          <p:cNvPr id="11" name="Text 8"/>
          <p:cNvSpPr txBox="1"/>
          <p:nvPr/>
        </p:nvSpPr>
        <p:spPr>
          <a:xfrm>
            <a:off x="6537960" y="4023360"/>
            <a:ext cx="1920240" cy="365760"/>
          </a:xfrm>
          <a:prstGeom prst="rect">
            <a:avLst/>
          </a:prstGeom>
          <a:noFill/>
          <a:ln/>
        </p:spPr>
        <p:txBody>
          <a:bodyPr wrap="square" lIns="0" tIns="0" rIns="0" bIns="0" rtlCol="0" anchor="t"/>
          <a:lstStyle/>
          <a:p>
            <a:pPr indent="0" marL="0">
              <a:buNone/>
            </a:pPr>
            <a:r>
              <a:rPr lang="en-US" sz="1300" dirty="0">
                <a:solidFill>
                  <a:srgbClr val="374151"/>
                </a:solidFill>
                <a:latin typeface="Calibri" pitchFamily="34" charset="0"/>
                <a:ea typeface="Calibri" pitchFamily="34" charset="-122"/>
                <a:cs typeface="Calibri" pitchFamily="34" charset="-120"/>
              </a:rPr>
              <a:t>Average records per model</a:t>
            </a:r>
            <a:endParaRPr lang="en-US" sz="1300" dirty="0"/>
          </a:p>
        </p:txBody>
      </p:sp>
      <p:sp>
        <p:nvSpPr>
          <p:cNvPr id="12" name="Text 9"/>
          <p:cNvSpPr txBox="1"/>
          <p:nvPr/>
        </p:nvSpPr>
        <p:spPr>
          <a:xfrm>
            <a:off x="548640" y="4754880"/>
            <a:ext cx="45720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Source: Mahindra Cars &amp; Tractors Sales dashboard</a:t>
            </a:r>
            <a:endParaRPr lang="en-US" sz="1000" dirty="0"/>
          </a:p>
        </p:txBody>
      </p:sp>
      <p:sp>
        <p:nvSpPr>
          <p:cNvPr id="13" name="Shape 10"/>
          <p:cNvSpPr/>
          <p:nvPr/>
        </p:nvSpPr>
        <p:spPr>
          <a:xfrm>
            <a:off x="6903720" y="4727448"/>
            <a:ext cx="1188720" cy="292608"/>
          </a:xfrm>
          <a:prstGeom prst="roundRect">
            <a:avLst>
              <a:gd name="adj" fmla="val 25000"/>
            </a:avLst>
          </a:prstGeom>
          <a:solidFill>
            <a:srgbClr val="F3F4F6"/>
          </a:solidFill>
          <a:ln w="12700">
            <a:solidFill>
              <a:srgbClr val="F3F4F6"/>
            </a:solidFill>
            <a:prstDash val="solid"/>
          </a:ln>
        </p:spPr>
      </p:sp>
      <p:sp>
        <p:nvSpPr>
          <p:cNvPr id="14" name="Text 11">
            <a:hlinkClick r:id="rId2" tooltip="Back to agenda" action="ppaction://hlinksldjump"/>
          </p:cNvPr>
          <p:cNvSpPr txBox="1"/>
          <p:nvPr/>
        </p:nvSpPr>
        <p:spPr>
          <a:xfrm>
            <a:off x="6903720" y="4727448"/>
            <a:ext cx="1188720" cy="292608"/>
          </a:xfrm>
          <a:prstGeom prst="rect">
            <a:avLst/>
          </a:prstGeom>
          <a:noFill/>
          <a:ln/>
        </p:spPr>
        <p:txBody>
          <a:bodyPr wrap="square" lIns="0" tIns="0" rIns="0" bIns="0" rtlCol="0" anchor="ctr"/>
          <a:lstStyle/>
          <a:p>
            <a:pPr algn="ctr" indent="0" marL="0">
              <a:buNone/>
            </a:pPr>
            <a:r>
              <a:rPr lang="en-US" sz="1100" u="sng" dirty="0">
                <a:solidFill>
                  <a:srgbClr val="374151"/>
                </a:solidFill>
                <a:latin typeface="Calibri" pitchFamily="34" charset="0"/>
                <a:ea typeface="Calibri" pitchFamily="34" charset="-122"/>
                <a:cs typeface="Calibri" pitchFamily="34" charset="-120"/>
                <a:hlinkClick r:id="rId2"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94360"/>
          </a:xfrm>
          <a:prstGeom prst="rect">
            <a:avLst/>
          </a:prstGeom>
          <a:noFill/>
          <a:ln/>
        </p:spPr>
        <p:txBody>
          <a:bodyPr wrap="square" lIns="0" tIns="0" rIns="0" bIns="0" rtlCol="0" anchor="ctr"/>
          <a:lstStyle/>
          <a:p>
            <a:pPr indent="0" marL="0">
              <a:buNone/>
            </a:pPr>
            <a:r>
              <a:rPr lang="en-US" sz="3200" b="1" dirty="0">
                <a:solidFill>
                  <a:srgbClr val="1B1F24"/>
                </a:solidFill>
                <a:latin typeface="Cambria" pitchFamily="34" charset="0"/>
                <a:ea typeface="Cambria" pitchFamily="34" charset="-122"/>
                <a:cs typeface="Cambria" pitchFamily="34" charset="-120"/>
              </a:rPr>
              <a:t>Spread across models</a:t>
            </a:r>
            <a:endParaRPr lang="en-US" sz="3200" dirty="0"/>
          </a:p>
        </p:txBody>
      </p:sp>
      <p:sp>
        <p:nvSpPr>
          <p:cNvPr id="3" name="Text 1"/>
          <p:cNvSpPr txBox="1"/>
          <p:nvPr/>
        </p:nvSpPr>
        <p:spPr>
          <a:xfrm>
            <a:off x="548640" y="914400"/>
            <a:ext cx="8046720"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Seven of ten models cluster between 94 and 103; two pull ahead</a:t>
            </a:r>
            <a:endParaRPr lang="en-US" sz="1600" dirty="0"/>
          </a:p>
        </p:txBody>
      </p:sp>
      <p:sp>
        <p:nvSpPr>
          <p:cNvPr id="4" name="Shape 2"/>
          <p:cNvSpPr/>
          <p:nvPr/>
        </p:nvSpPr>
        <p:spPr>
          <a:xfrm>
            <a:off x="2197608" y="1417320"/>
            <a:ext cx="2499360" cy="3017520"/>
          </a:xfrm>
          <a:prstGeom prst="rect">
            <a:avLst/>
          </a:prstGeom>
          <a:solidFill>
            <a:srgbClr val="F3F4F6"/>
          </a:solidFill>
          <a:ln w="12700">
            <a:solidFill>
              <a:srgbClr val="F3F4F6"/>
            </a:solidFill>
            <a:prstDash val="solid"/>
          </a:ln>
        </p:spPr>
      </p:sp>
      <p:sp>
        <p:nvSpPr>
          <p:cNvPr id="5" name="Text 3"/>
          <p:cNvSpPr txBox="1"/>
          <p:nvPr/>
        </p:nvSpPr>
        <p:spPr>
          <a:xfrm>
            <a:off x="2197608" y="1481328"/>
            <a:ext cx="2499360" cy="256032"/>
          </a:xfrm>
          <a:prstGeom prst="rect">
            <a:avLst/>
          </a:prstGeom>
          <a:noFill/>
          <a:ln/>
        </p:spPr>
        <p:txBody>
          <a:bodyPr wrap="square" lIns="0" tIns="0" rIns="0" bIns="0" rtlCol="0" anchor="t"/>
          <a:lstStyle/>
          <a:p>
            <a:pPr algn="ctr" indent="0" marL="0">
              <a:buNone/>
            </a:pPr>
            <a:r>
              <a:rPr lang="en-US" sz="1200" b="1" dirty="0">
                <a:solidFill>
                  <a:srgbClr val="6B7280"/>
                </a:solidFill>
                <a:latin typeface="Calibri" pitchFamily="34" charset="0"/>
                <a:ea typeface="Calibri" pitchFamily="34" charset="-122"/>
                <a:cs typeface="Calibri" pitchFamily="34" charset="-120"/>
              </a:rPr>
              <a:t>Core cluster: 94–103</a:t>
            </a:r>
            <a:endParaRPr lang="en-US" sz="1200" dirty="0"/>
          </a:p>
        </p:txBody>
      </p:sp>
      <p:sp>
        <p:nvSpPr>
          <p:cNvPr id="6" name="Shape 4"/>
          <p:cNvSpPr/>
          <p:nvPr/>
        </p:nvSpPr>
        <p:spPr>
          <a:xfrm>
            <a:off x="822960" y="3063240"/>
            <a:ext cx="7498080" cy="0"/>
          </a:xfrm>
          <a:prstGeom prst="line">
            <a:avLst/>
          </a:prstGeom>
          <a:noFill/>
          <a:ln w="19050">
            <a:solidFill>
              <a:srgbClr val="9CA3AF"/>
            </a:solidFill>
            <a:prstDash val="solid"/>
          </a:ln>
        </p:spPr>
      </p:sp>
      <p:sp>
        <p:nvSpPr>
          <p:cNvPr id="7" name="Shape 5"/>
          <p:cNvSpPr/>
          <p:nvPr/>
        </p:nvSpPr>
        <p:spPr>
          <a:xfrm>
            <a:off x="1322832" y="2606040"/>
            <a:ext cx="0" cy="457200"/>
          </a:xfrm>
          <a:prstGeom prst="line">
            <a:avLst/>
          </a:prstGeom>
          <a:noFill/>
          <a:ln w="12700">
            <a:solidFill>
              <a:srgbClr val="C4C9D1"/>
            </a:solidFill>
            <a:prstDash val="solid"/>
          </a:ln>
        </p:spPr>
      </p:sp>
      <p:sp>
        <p:nvSpPr>
          <p:cNvPr id="8" name="Shape 6"/>
          <p:cNvSpPr/>
          <p:nvPr/>
        </p:nvSpPr>
        <p:spPr>
          <a:xfrm>
            <a:off x="1231392" y="2971800"/>
            <a:ext cx="182880" cy="182880"/>
          </a:xfrm>
          <a:prstGeom prst="ellipse">
            <a:avLst/>
          </a:prstGeom>
          <a:solidFill>
            <a:srgbClr val="64748B"/>
          </a:solidFill>
          <a:ln w="12700">
            <a:solidFill>
              <a:srgbClr val="FFFFFF"/>
            </a:solidFill>
            <a:prstDash val="solid"/>
          </a:ln>
        </p:spPr>
      </p:sp>
      <p:sp>
        <p:nvSpPr>
          <p:cNvPr id="9" name="Text 7"/>
          <p:cNvSpPr txBox="1"/>
          <p:nvPr/>
        </p:nvSpPr>
        <p:spPr>
          <a:xfrm>
            <a:off x="728472" y="2331720"/>
            <a:ext cx="1188720" cy="274320"/>
          </a:xfrm>
          <a:prstGeom prst="rect">
            <a:avLst/>
          </a:prstGeom>
          <a:noFill/>
          <a:ln/>
        </p:spPr>
        <p:txBody>
          <a:bodyPr wrap="square" lIns="0" tIns="0" rIns="0" bIns="0" rtlCol="0" anchor="ctr"/>
          <a:lstStyle/>
          <a:p>
            <a:pPr algn="ctr" indent="0" marL="0">
              <a:buNone/>
            </a:pPr>
            <a:r>
              <a:rPr lang="en-US" sz="1100" b="1" dirty="0">
                <a:solidFill>
                  <a:srgbClr val="64748B"/>
                </a:solidFill>
                <a:latin typeface="Calibri" pitchFamily="34" charset="0"/>
                <a:ea typeface="Calibri" pitchFamily="34" charset="-122"/>
                <a:cs typeface="Calibri" pitchFamily="34" charset="-120"/>
              </a:rPr>
              <a:t>Bolero · 90</a:t>
            </a:r>
            <a:endParaRPr lang="en-US" sz="1100" dirty="0"/>
          </a:p>
        </p:txBody>
      </p:sp>
      <p:sp>
        <p:nvSpPr>
          <p:cNvPr id="10" name="Shape 8"/>
          <p:cNvSpPr/>
          <p:nvPr/>
        </p:nvSpPr>
        <p:spPr>
          <a:xfrm>
            <a:off x="2322576" y="2057400"/>
            <a:ext cx="0" cy="1005840"/>
          </a:xfrm>
          <a:prstGeom prst="line">
            <a:avLst/>
          </a:prstGeom>
          <a:noFill/>
          <a:ln w="12700">
            <a:solidFill>
              <a:srgbClr val="C4C9D1"/>
            </a:solidFill>
            <a:prstDash val="solid"/>
          </a:ln>
        </p:spPr>
      </p:sp>
      <p:sp>
        <p:nvSpPr>
          <p:cNvPr id="11" name="Shape 9"/>
          <p:cNvSpPr/>
          <p:nvPr/>
        </p:nvSpPr>
        <p:spPr>
          <a:xfrm>
            <a:off x="2231136" y="2971800"/>
            <a:ext cx="182880" cy="182880"/>
          </a:xfrm>
          <a:prstGeom prst="ellipse">
            <a:avLst/>
          </a:prstGeom>
          <a:solidFill>
            <a:srgbClr val="2F6B7A"/>
          </a:solidFill>
          <a:ln w="12700">
            <a:solidFill>
              <a:srgbClr val="FFFFFF"/>
            </a:solidFill>
            <a:prstDash val="solid"/>
          </a:ln>
        </p:spPr>
      </p:sp>
      <p:sp>
        <p:nvSpPr>
          <p:cNvPr id="12" name="Text 10"/>
          <p:cNvSpPr txBox="1"/>
          <p:nvPr/>
        </p:nvSpPr>
        <p:spPr>
          <a:xfrm>
            <a:off x="1728216" y="1783080"/>
            <a:ext cx="1188720" cy="274320"/>
          </a:xfrm>
          <a:prstGeom prst="rect">
            <a:avLst/>
          </a:prstGeom>
          <a:noFill/>
          <a:ln/>
        </p:spPr>
        <p:txBody>
          <a:bodyPr wrap="square" lIns="0" tIns="0" rIns="0" bIns="0" rtlCol="0" anchor="ctr"/>
          <a:lstStyle/>
          <a:p>
            <a:pPr algn="ctr" indent="0" marL="0">
              <a:buNone/>
            </a:pPr>
            <a:r>
              <a:rPr lang="en-US" sz="1100" b="1" dirty="0">
                <a:solidFill>
                  <a:srgbClr val="2F6B7A"/>
                </a:solidFill>
                <a:latin typeface="Calibri" pitchFamily="34" charset="0"/>
                <a:ea typeface="Calibri" pitchFamily="34" charset="-122"/>
                <a:cs typeface="Calibri" pitchFamily="34" charset="-120"/>
              </a:rPr>
              <a:t>Thar · 94</a:t>
            </a:r>
            <a:endParaRPr lang="en-US" sz="1100" dirty="0"/>
          </a:p>
        </p:txBody>
      </p:sp>
      <p:sp>
        <p:nvSpPr>
          <p:cNvPr id="13" name="Shape 11"/>
          <p:cNvSpPr/>
          <p:nvPr/>
        </p:nvSpPr>
        <p:spPr>
          <a:xfrm>
            <a:off x="2572512" y="3063240"/>
            <a:ext cx="0" cy="548640"/>
          </a:xfrm>
          <a:prstGeom prst="line">
            <a:avLst/>
          </a:prstGeom>
          <a:noFill/>
          <a:ln w="12700">
            <a:solidFill>
              <a:srgbClr val="C4C9D1"/>
            </a:solidFill>
            <a:prstDash val="solid"/>
          </a:ln>
        </p:spPr>
      </p:sp>
      <p:sp>
        <p:nvSpPr>
          <p:cNvPr id="14" name="Shape 12"/>
          <p:cNvSpPr/>
          <p:nvPr/>
        </p:nvSpPr>
        <p:spPr>
          <a:xfrm>
            <a:off x="2481072" y="2971800"/>
            <a:ext cx="182880" cy="182880"/>
          </a:xfrm>
          <a:prstGeom prst="ellipse">
            <a:avLst/>
          </a:prstGeom>
          <a:solidFill>
            <a:srgbClr val="2F6B7A"/>
          </a:solidFill>
          <a:ln w="12700">
            <a:solidFill>
              <a:srgbClr val="FFFFFF"/>
            </a:solidFill>
            <a:prstDash val="solid"/>
          </a:ln>
        </p:spPr>
      </p:sp>
      <p:sp>
        <p:nvSpPr>
          <p:cNvPr id="15" name="Text 13"/>
          <p:cNvSpPr txBox="1"/>
          <p:nvPr/>
        </p:nvSpPr>
        <p:spPr>
          <a:xfrm>
            <a:off x="1978152" y="3611880"/>
            <a:ext cx="1188720" cy="274320"/>
          </a:xfrm>
          <a:prstGeom prst="rect">
            <a:avLst/>
          </a:prstGeom>
          <a:noFill/>
          <a:ln/>
        </p:spPr>
        <p:txBody>
          <a:bodyPr wrap="square" lIns="0" tIns="0" rIns="0" bIns="0" rtlCol="0" anchor="ctr"/>
          <a:lstStyle/>
          <a:p>
            <a:pPr algn="ctr" indent="0" marL="0">
              <a:buNone/>
            </a:pPr>
            <a:r>
              <a:rPr lang="en-US" sz="1100" b="1" dirty="0">
                <a:solidFill>
                  <a:srgbClr val="2F6B7A"/>
                </a:solidFill>
                <a:latin typeface="Calibri" pitchFamily="34" charset="0"/>
                <a:ea typeface="Calibri" pitchFamily="34" charset="-122"/>
                <a:cs typeface="Calibri" pitchFamily="34" charset="-120"/>
              </a:rPr>
              <a:t>Scorpio-N · 95</a:t>
            </a:r>
            <a:endParaRPr lang="en-US" sz="1100" dirty="0"/>
          </a:p>
        </p:txBody>
      </p:sp>
      <p:sp>
        <p:nvSpPr>
          <p:cNvPr id="16" name="Shape 14"/>
          <p:cNvSpPr/>
          <p:nvPr/>
        </p:nvSpPr>
        <p:spPr>
          <a:xfrm>
            <a:off x="2822448" y="3063240"/>
            <a:ext cx="0" cy="1051560"/>
          </a:xfrm>
          <a:prstGeom prst="line">
            <a:avLst/>
          </a:prstGeom>
          <a:noFill/>
          <a:ln w="12700">
            <a:solidFill>
              <a:srgbClr val="C4C9D1"/>
            </a:solidFill>
            <a:prstDash val="solid"/>
          </a:ln>
        </p:spPr>
      </p:sp>
      <p:sp>
        <p:nvSpPr>
          <p:cNvPr id="17" name="Shape 15"/>
          <p:cNvSpPr/>
          <p:nvPr/>
        </p:nvSpPr>
        <p:spPr>
          <a:xfrm>
            <a:off x="2731008" y="2971800"/>
            <a:ext cx="182880" cy="182880"/>
          </a:xfrm>
          <a:prstGeom prst="ellipse">
            <a:avLst/>
          </a:prstGeom>
          <a:solidFill>
            <a:srgbClr val="2F6B7A"/>
          </a:solidFill>
          <a:ln w="12700">
            <a:solidFill>
              <a:srgbClr val="FFFFFF"/>
            </a:solidFill>
            <a:prstDash val="solid"/>
          </a:ln>
        </p:spPr>
      </p:sp>
      <p:sp>
        <p:nvSpPr>
          <p:cNvPr id="18" name="Text 16"/>
          <p:cNvSpPr txBox="1"/>
          <p:nvPr/>
        </p:nvSpPr>
        <p:spPr>
          <a:xfrm>
            <a:off x="2228088" y="4114800"/>
            <a:ext cx="1188720" cy="274320"/>
          </a:xfrm>
          <a:prstGeom prst="rect">
            <a:avLst/>
          </a:prstGeom>
          <a:noFill/>
          <a:ln/>
        </p:spPr>
        <p:txBody>
          <a:bodyPr wrap="square" lIns="0" tIns="0" rIns="0" bIns="0" rtlCol="0" anchor="ctr"/>
          <a:lstStyle/>
          <a:p>
            <a:pPr algn="ctr" indent="0" marL="0">
              <a:buNone/>
            </a:pPr>
            <a:r>
              <a:rPr lang="en-US" sz="1100" b="1" dirty="0">
                <a:solidFill>
                  <a:srgbClr val="2F6B7A"/>
                </a:solidFill>
                <a:latin typeface="Calibri" pitchFamily="34" charset="0"/>
                <a:ea typeface="Calibri" pitchFamily="34" charset="-122"/>
                <a:cs typeface="Calibri" pitchFamily="34" charset="-120"/>
              </a:rPr>
              <a:t>ARJUN · 96</a:t>
            </a:r>
            <a:endParaRPr lang="en-US" sz="1100" dirty="0"/>
          </a:p>
        </p:txBody>
      </p:sp>
      <p:sp>
        <p:nvSpPr>
          <p:cNvPr id="19" name="Shape 17"/>
          <p:cNvSpPr/>
          <p:nvPr/>
        </p:nvSpPr>
        <p:spPr>
          <a:xfrm>
            <a:off x="3072384" y="2606040"/>
            <a:ext cx="0" cy="457200"/>
          </a:xfrm>
          <a:prstGeom prst="line">
            <a:avLst/>
          </a:prstGeom>
          <a:noFill/>
          <a:ln w="12700">
            <a:solidFill>
              <a:srgbClr val="C4C9D1"/>
            </a:solidFill>
            <a:prstDash val="solid"/>
          </a:ln>
        </p:spPr>
      </p:sp>
      <p:sp>
        <p:nvSpPr>
          <p:cNvPr id="20" name="Shape 18"/>
          <p:cNvSpPr/>
          <p:nvPr/>
        </p:nvSpPr>
        <p:spPr>
          <a:xfrm>
            <a:off x="2980944" y="2971800"/>
            <a:ext cx="182880" cy="182880"/>
          </a:xfrm>
          <a:prstGeom prst="ellipse">
            <a:avLst/>
          </a:prstGeom>
          <a:solidFill>
            <a:srgbClr val="2F6B7A"/>
          </a:solidFill>
          <a:ln w="12700">
            <a:solidFill>
              <a:srgbClr val="FFFFFF"/>
            </a:solidFill>
            <a:prstDash val="solid"/>
          </a:ln>
        </p:spPr>
      </p:sp>
      <p:sp>
        <p:nvSpPr>
          <p:cNvPr id="21" name="Text 19"/>
          <p:cNvSpPr txBox="1"/>
          <p:nvPr/>
        </p:nvSpPr>
        <p:spPr>
          <a:xfrm>
            <a:off x="2478024" y="2331720"/>
            <a:ext cx="1188720" cy="274320"/>
          </a:xfrm>
          <a:prstGeom prst="rect">
            <a:avLst/>
          </a:prstGeom>
          <a:noFill/>
          <a:ln/>
        </p:spPr>
        <p:txBody>
          <a:bodyPr wrap="square" lIns="0" tIns="0" rIns="0" bIns="0" rtlCol="0" anchor="ctr"/>
          <a:lstStyle/>
          <a:p>
            <a:pPr algn="ctr" indent="0" marL="0">
              <a:buNone/>
            </a:pPr>
            <a:r>
              <a:rPr lang="en-US" sz="1100" b="1" dirty="0">
                <a:solidFill>
                  <a:srgbClr val="2F6B7A"/>
                </a:solidFill>
                <a:latin typeface="Calibri" pitchFamily="34" charset="0"/>
                <a:ea typeface="Calibri" pitchFamily="34" charset="-122"/>
                <a:cs typeface="Calibri" pitchFamily="34" charset="-120"/>
              </a:rPr>
              <a:t>NOVO · 97</a:t>
            </a:r>
            <a:endParaRPr lang="en-US" sz="1100" dirty="0"/>
          </a:p>
        </p:txBody>
      </p:sp>
      <p:sp>
        <p:nvSpPr>
          <p:cNvPr id="22" name="Shape 20"/>
          <p:cNvSpPr/>
          <p:nvPr/>
        </p:nvSpPr>
        <p:spPr>
          <a:xfrm>
            <a:off x="3572256" y="2057400"/>
            <a:ext cx="0" cy="1005840"/>
          </a:xfrm>
          <a:prstGeom prst="line">
            <a:avLst/>
          </a:prstGeom>
          <a:noFill/>
          <a:ln w="12700">
            <a:solidFill>
              <a:srgbClr val="C4C9D1"/>
            </a:solidFill>
            <a:prstDash val="solid"/>
          </a:ln>
        </p:spPr>
      </p:sp>
      <p:sp>
        <p:nvSpPr>
          <p:cNvPr id="23" name="Shape 21"/>
          <p:cNvSpPr/>
          <p:nvPr/>
        </p:nvSpPr>
        <p:spPr>
          <a:xfrm>
            <a:off x="3480816" y="2971800"/>
            <a:ext cx="182880" cy="182880"/>
          </a:xfrm>
          <a:prstGeom prst="ellipse">
            <a:avLst/>
          </a:prstGeom>
          <a:solidFill>
            <a:srgbClr val="2F6B7A"/>
          </a:solidFill>
          <a:ln w="12700">
            <a:solidFill>
              <a:srgbClr val="FFFFFF"/>
            </a:solidFill>
            <a:prstDash val="solid"/>
          </a:ln>
        </p:spPr>
      </p:sp>
      <p:sp>
        <p:nvSpPr>
          <p:cNvPr id="24" name="Text 22"/>
          <p:cNvSpPr txBox="1"/>
          <p:nvPr/>
        </p:nvSpPr>
        <p:spPr>
          <a:xfrm>
            <a:off x="2977896" y="1783080"/>
            <a:ext cx="1188720" cy="274320"/>
          </a:xfrm>
          <a:prstGeom prst="rect">
            <a:avLst/>
          </a:prstGeom>
          <a:noFill/>
          <a:ln/>
        </p:spPr>
        <p:txBody>
          <a:bodyPr wrap="square" lIns="0" tIns="0" rIns="0" bIns="0" rtlCol="0" anchor="ctr"/>
          <a:lstStyle/>
          <a:p>
            <a:pPr algn="ctr" indent="0" marL="0">
              <a:buNone/>
            </a:pPr>
            <a:r>
              <a:rPr lang="en-US" sz="1100" b="1" dirty="0">
                <a:solidFill>
                  <a:srgbClr val="2F6B7A"/>
                </a:solidFill>
                <a:latin typeface="Calibri" pitchFamily="34" charset="0"/>
                <a:ea typeface="Calibri" pitchFamily="34" charset="-122"/>
                <a:cs typeface="Calibri" pitchFamily="34" charset="-120"/>
              </a:rPr>
              <a:t>JIVO · 99</a:t>
            </a:r>
            <a:endParaRPr lang="en-US" sz="1100" dirty="0"/>
          </a:p>
        </p:txBody>
      </p:sp>
      <p:sp>
        <p:nvSpPr>
          <p:cNvPr id="25" name="Shape 23"/>
          <p:cNvSpPr/>
          <p:nvPr/>
        </p:nvSpPr>
        <p:spPr>
          <a:xfrm>
            <a:off x="3822192" y="3063240"/>
            <a:ext cx="0" cy="548640"/>
          </a:xfrm>
          <a:prstGeom prst="line">
            <a:avLst/>
          </a:prstGeom>
          <a:noFill/>
          <a:ln w="12700">
            <a:solidFill>
              <a:srgbClr val="C4C9D1"/>
            </a:solidFill>
            <a:prstDash val="solid"/>
          </a:ln>
        </p:spPr>
      </p:sp>
      <p:sp>
        <p:nvSpPr>
          <p:cNvPr id="26" name="Shape 24"/>
          <p:cNvSpPr/>
          <p:nvPr/>
        </p:nvSpPr>
        <p:spPr>
          <a:xfrm>
            <a:off x="3730752" y="2971800"/>
            <a:ext cx="182880" cy="182880"/>
          </a:xfrm>
          <a:prstGeom prst="ellipse">
            <a:avLst/>
          </a:prstGeom>
          <a:solidFill>
            <a:srgbClr val="2F6B7A"/>
          </a:solidFill>
          <a:ln w="12700">
            <a:solidFill>
              <a:srgbClr val="FFFFFF"/>
            </a:solidFill>
            <a:prstDash val="solid"/>
          </a:ln>
        </p:spPr>
      </p:sp>
      <p:sp>
        <p:nvSpPr>
          <p:cNvPr id="27" name="Text 25"/>
          <p:cNvSpPr txBox="1"/>
          <p:nvPr/>
        </p:nvSpPr>
        <p:spPr>
          <a:xfrm>
            <a:off x="3227832" y="3611880"/>
            <a:ext cx="1188720" cy="274320"/>
          </a:xfrm>
          <a:prstGeom prst="rect">
            <a:avLst/>
          </a:prstGeom>
          <a:noFill/>
          <a:ln/>
        </p:spPr>
        <p:txBody>
          <a:bodyPr wrap="square" lIns="0" tIns="0" rIns="0" bIns="0" rtlCol="0" anchor="ctr"/>
          <a:lstStyle/>
          <a:p>
            <a:pPr algn="ctr" indent="0" marL="0">
              <a:buNone/>
            </a:pPr>
            <a:r>
              <a:rPr lang="en-US" sz="1100" b="1" dirty="0">
                <a:solidFill>
                  <a:srgbClr val="2F6B7A"/>
                </a:solidFill>
                <a:latin typeface="Calibri" pitchFamily="34" charset="0"/>
                <a:ea typeface="Calibri" pitchFamily="34" charset="-122"/>
                <a:cs typeface="Calibri" pitchFamily="34" charset="-120"/>
              </a:rPr>
              <a:t>XUV 3XO · 100</a:t>
            </a:r>
            <a:endParaRPr lang="en-US" sz="1100" dirty="0"/>
          </a:p>
        </p:txBody>
      </p:sp>
      <p:sp>
        <p:nvSpPr>
          <p:cNvPr id="28" name="Shape 26"/>
          <p:cNvSpPr/>
          <p:nvPr/>
        </p:nvSpPr>
        <p:spPr>
          <a:xfrm>
            <a:off x="4572000" y="3063240"/>
            <a:ext cx="0" cy="1051560"/>
          </a:xfrm>
          <a:prstGeom prst="line">
            <a:avLst/>
          </a:prstGeom>
          <a:noFill/>
          <a:ln w="12700">
            <a:solidFill>
              <a:srgbClr val="C4C9D1"/>
            </a:solidFill>
            <a:prstDash val="solid"/>
          </a:ln>
        </p:spPr>
      </p:sp>
      <p:sp>
        <p:nvSpPr>
          <p:cNvPr id="29" name="Shape 27"/>
          <p:cNvSpPr/>
          <p:nvPr/>
        </p:nvSpPr>
        <p:spPr>
          <a:xfrm>
            <a:off x="4480560" y="2971800"/>
            <a:ext cx="182880" cy="182880"/>
          </a:xfrm>
          <a:prstGeom prst="ellipse">
            <a:avLst/>
          </a:prstGeom>
          <a:solidFill>
            <a:srgbClr val="2F6B7A"/>
          </a:solidFill>
          <a:ln w="12700">
            <a:solidFill>
              <a:srgbClr val="FFFFFF"/>
            </a:solidFill>
            <a:prstDash val="solid"/>
          </a:ln>
        </p:spPr>
      </p:sp>
      <p:sp>
        <p:nvSpPr>
          <p:cNvPr id="30" name="Text 28"/>
          <p:cNvSpPr txBox="1"/>
          <p:nvPr/>
        </p:nvSpPr>
        <p:spPr>
          <a:xfrm>
            <a:off x="3977640" y="4114800"/>
            <a:ext cx="1188720" cy="274320"/>
          </a:xfrm>
          <a:prstGeom prst="rect">
            <a:avLst/>
          </a:prstGeom>
          <a:noFill/>
          <a:ln/>
        </p:spPr>
        <p:txBody>
          <a:bodyPr wrap="square" lIns="0" tIns="0" rIns="0" bIns="0" rtlCol="0" anchor="ctr"/>
          <a:lstStyle/>
          <a:p>
            <a:pPr algn="ctr" indent="0" marL="0">
              <a:buNone/>
            </a:pPr>
            <a:r>
              <a:rPr lang="en-US" sz="1100" b="1" dirty="0">
                <a:solidFill>
                  <a:srgbClr val="2F6B7A"/>
                </a:solidFill>
                <a:latin typeface="Calibri" pitchFamily="34" charset="0"/>
                <a:ea typeface="Calibri" pitchFamily="34" charset="-122"/>
                <a:cs typeface="Calibri" pitchFamily="34" charset="-120"/>
              </a:rPr>
              <a:t>Bolero Neo · 103</a:t>
            </a:r>
            <a:endParaRPr lang="en-US" sz="1100" dirty="0"/>
          </a:p>
        </p:txBody>
      </p:sp>
      <p:sp>
        <p:nvSpPr>
          <p:cNvPr id="31" name="Shape 29"/>
          <p:cNvSpPr/>
          <p:nvPr/>
        </p:nvSpPr>
        <p:spPr>
          <a:xfrm>
            <a:off x="6321552" y="2606040"/>
            <a:ext cx="0" cy="457200"/>
          </a:xfrm>
          <a:prstGeom prst="line">
            <a:avLst/>
          </a:prstGeom>
          <a:noFill/>
          <a:ln w="12700">
            <a:solidFill>
              <a:srgbClr val="C4C9D1"/>
            </a:solidFill>
            <a:prstDash val="solid"/>
          </a:ln>
        </p:spPr>
      </p:sp>
      <p:sp>
        <p:nvSpPr>
          <p:cNvPr id="32" name="Shape 30"/>
          <p:cNvSpPr/>
          <p:nvPr/>
        </p:nvSpPr>
        <p:spPr>
          <a:xfrm>
            <a:off x="6230112" y="2971800"/>
            <a:ext cx="182880" cy="182880"/>
          </a:xfrm>
          <a:prstGeom prst="ellipse">
            <a:avLst/>
          </a:prstGeom>
          <a:solidFill>
            <a:srgbClr val="2F6B7A"/>
          </a:solidFill>
          <a:ln w="12700">
            <a:solidFill>
              <a:srgbClr val="FFFFFF"/>
            </a:solidFill>
            <a:prstDash val="solid"/>
          </a:ln>
        </p:spPr>
      </p:sp>
      <p:sp>
        <p:nvSpPr>
          <p:cNvPr id="33" name="Text 31"/>
          <p:cNvSpPr txBox="1"/>
          <p:nvPr/>
        </p:nvSpPr>
        <p:spPr>
          <a:xfrm>
            <a:off x="5727192" y="2331720"/>
            <a:ext cx="1188720" cy="274320"/>
          </a:xfrm>
          <a:prstGeom prst="rect">
            <a:avLst/>
          </a:prstGeom>
          <a:noFill/>
          <a:ln/>
        </p:spPr>
        <p:txBody>
          <a:bodyPr wrap="square" lIns="0" tIns="0" rIns="0" bIns="0" rtlCol="0" anchor="ctr"/>
          <a:lstStyle/>
          <a:p>
            <a:pPr algn="ctr" indent="0" marL="0">
              <a:buNone/>
            </a:pPr>
            <a:r>
              <a:rPr lang="en-US" sz="1100" b="1" dirty="0">
                <a:solidFill>
                  <a:srgbClr val="2F6B7A"/>
                </a:solidFill>
                <a:latin typeface="Calibri" pitchFamily="34" charset="0"/>
                <a:ea typeface="Calibri" pitchFamily="34" charset="-122"/>
                <a:cs typeface="Calibri" pitchFamily="34" charset="-120"/>
              </a:rPr>
              <a:t>YUVO TECH+ · 110</a:t>
            </a:r>
            <a:endParaRPr lang="en-US" sz="1100" dirty="0"/>
          </a:p>
        </p:txBody>
      </p:sp>
      <p:sp>
        <p:nvSpPr>
          <p:cNvPr id="34" name="Shape 32"/>
          <p:cNvSpPr/>
          <p:nvPr/>
        </p:nvSpPr>
        <p:spPr>
          <a:xfrm>
            <a:off x="7821168" y="2057400"/>
            <a:ext cx="0" cy="1005840"/>
          </a:xfrm>
          <a:prstGeom prst="line">
            <a:avLst/>
          </a:prstGeom>
          <a:noFill/>
          <a:ln w="12700">
            <a:solidFill>
              <a:srgbClr val="C4C9D1"/>
            </a:solidFill>
            <a:prstDash val="solid"/>
          </a:ln>
        </p:spPr>
      </p:sp>
      <p:sp>
        <p:nvSpPr>
          <p:cNvPr id="35" name="Shape 33"/>
          <p:cNvSpPr/>
          <p:nvPr/>
        </p:nvSpPr>
        <p:spPr>
          <a:xfrm>
            <a:off x="7729728" y="2971800"/>
            <a:ext cx="182880" cy="182880"/>
          </a:xfrm>
          <a:prstGeom prst="ellipse">
            <a:avLst/>
          </a:prstGeom>
          <a:solidFill>
            <a:srgbClr val="C8102E"/>
          </a:solidFill>
          <a:ln w="12700">
            <a:solidFill>
              <a:srgbClr val="FFFFFF"/>
            </a:solidFill>
            <a:prstDash val="solid"/>
          </a:ln>
        </p:spPr>
      </p:sp>
      <p:sp>
        <p:nvSpPr>
          <p:cNvPr id="36" name="Text 34"/>
          <p:cNvSpPr txBox="1"/>
          <p:nvPr/>
        </p:nvSpPr>
        <p:spPr>
          <a:xfrm>
            <a:off x="7226808" y="1783080"/>
            <a:ext cx="1188720" cy="274320"/>
          </a:xfrm>
          <a:prstGeom prst="rect">
            <a:avLst/>
          </a:prstGeom>
          <a:noFill/>
          <a:ln/>
        </p:spPr>
        <p:txBody>
          <a:bodyPr wrap="square" lIns="0" tIns="0" rIns="0" bIns="0"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XUV700 · 116</a:t>
            </a:r>
            <a:endParaRPr lang="en-US" sz="1100" dirty="0"/>
          </a:p>
        </p:txBody>
      </p:sp>
      <p:sp>
        <p:nvSpPr>
          <p:cNvPr id="37" name="Text 35"/>
          <p:cNvSpPr txBox="1"/>
          <p:nvPr/>
        </p:nvSpPr>
        <p:spPr>
          <a:xfrm>
            <a:off x="548640" y="4480560"/>
            <a:ext cx="5486400" cy="22860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Axis: count of sales records per model (Count of Units_Sold)</a:t>
            </a:r>
            <a:endParaRPr lang="en-US" sz="1100" dirty="0"/>
          </a:p>
        </p:txBody>
      </p:sp>
      <p:sp>
        <p:nvSpPr>
          <p:cNvPr id="38" name="Text 36"/>
          <p:cNvSpPr txBox="1"/>
          <p:nvPr/>
        </p:nvSpPr>
        <p:spPr>
          <a:xfrm>
            <a:off x="548640" y="4754880"/>
            <a:ext cx="45720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Source: Mahindra Cars &amp; Tractors Sales dashboard</a:t>
            </a:r>
            <a:endParaRPr lang="en-US" sz="1000" dirty="0"/>
          </a:p>
        </p:txBody>
      </p:sp>
      <p:sp>
        <p:nvSpPr>
          <p:cNvPr id="39" name="Shape 37"/>
          <p:cNvSpPr/>
          <p:nvPr/>
        </p:nvSpPr>
        <p:spPr>
          <a:xfrm>
            <a:off x="6903720" y="4727448"/>
            <a:ext cx="1188720" cy="292608"/>
          </a:xfrm>
          <a:prstGeom prst="roundRect">
            <a:avLst>
              <a:gd name="adj" fmla="val 25000"/>
            </a:avLst>
          </a:prstGeom>
          <a:solidFill>
            <a:srgbClr val="F3F4F6"/>
          </a:solidFill>
          <a:ln w="12700">
            <a:solidFill>
              <a:srgbClr val="F3F4F6"/>
            </a:solidFill>
            <a:prstDash val="solid"/>
          </a:ln>
        </p:spPr>
      </p:sp>
      <p:sp>
        <p:nvSpPr>
          <p:cNvPr id="40" name="Text 38">
            <a:hlinkClick r:id="rId1" tooltip="Back to agenda" action="ppaction://hlinksldjump"/>
          </p:cNvPr>
          <p:cNvSpPr txBox="1"/>
          <p:nvPr/>
        </p:nvSpPr>
        <p:spPr>
          <a:xfrm>
            <a:off x="6903720" y="4727448"/>
            <a:ext cx="1188720" cy="292608"/>
          </a:xfrm>
          <a:prstGeom prst="rect">
            <a:avLst/>
          </a:prstGeom>
          <a:noFill/>
          <a:ln/>
        </p:spPr>
        <p:txBody>
          <a:bodyPr wrap="square" lIns="0" tIns="0" rIns="0" bIns="0" rtlCol="0" anchor="ctr"/>
          <a:lstStyle/>
          <a:p>
            <a:pPr algn="ctr" indent="0" marL="0">
              <a:buNone/>
            </a:pPr>
            <a:r>
              <a:rPr lang="en-US" sz="1100" u="sng" dirty="0">
                <a:solidFill>
                  <a:srgbClr val="374151"/>
                </a:solidFill>
                <a:latin typeface="Calibri" pitchFamily="34" charset="0"/>
                <a:ea typeface="Calibri" pitchFamily="34" charset="-122"/>
                <a:cs typeface="Calibri" pitchFamily="34" charset="-120"/>
                <a:hlinkClick r:id="rId1"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94360"/>
          </a:xfrm>
          <a:prstGeom prst="rect">
            <a:avLst/>
          </a:prstGeom>
          <a:noFill/>
          <a:ln/>
        </p:spPr>
        <p:txBody>
          <a:bodyPr wrap="square" lIns="0" tIns="0" rIns="0" bIns="0" rtlCol="0" anchor="ctr"/>
          <a:lstStyle/>
          <a:p>
            <a:pPr indent="0" marL="0">
              <a:buNone/>
            </a:pPr>
            <a:r>
              <a:rPr lang="en-US" sz="3200" b="1" dirty="0">
                <a:solidFill>
                  <a:srgbClr val="1B1F24"/>
                </a:solidFill>
                <a:latin typeface="Cambria" pitchFamily="34" charset="0"/>
                <a:ea typeface="Cambria" pitchFamily="34" charset="-122"/>
                <a:cs typeface="Cambria" pitchFamily="34" charset="-120"/>
              </a:rPr>
              <a:t>Payment method mix</a:t>
            </a:r>
            <a:endParaRPr lang="en-US" sz="3200" dirty="0"/>
          </a:p>
        </p:txBody>
      </p:sp>
      <p:sp>
        <p:nvSpPr>
          <p:cNvPr id="3" name="Text 1"/>
          <p:cNvSpPr txBox="1"/>
          <p:nvPr/>
        </p:nvSpPr>
        <p:spPr>
          <a:xfrm>
            <a:off x="548640" y="914400"/>
            <a:ext cx="8046720"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Customers pay in five almost equal ways</a:t>
            </a:r>
            <a:endParaRPr lang="en-US" sz="1600" dirty="0"/>
          </a:p>
        </p:txBody>
      </p:sp>
      <p:graphicFrame>
        <p:nvGraphicFramePr>
          <p:cNvPr id="4" name="Chart 0" descr=""/>
          <p:cNvGraphicFramePr/>
          <p:nvPr/>
        </p:nvGraphicFramePr>
        <p:xfrm>
          <a:off x="457200" y="1371600"/>
          <a:ext cx="384048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1737360" y="2606040"/>
            <a:ext cx="1280160" cy="457200"/>
          </a:xfrm>
          <a:prstGeom prst="rect">
            <a:avLst/>
          </a:prstGeom>
          <a:noFill/>
          <a:ln/>
        </p:spPr>
        <p:txBody>
          <a:bodyPr wrap="square" lIns="0" tIns="0" rIns="0" bIns="0" rtlCol="0" anchor="ctr"/>
          <a:lstStyle/>
          <a:p>
            <a:pPr algn="ctr" indent="0" marL="0">
              <a:buNone/>
            </a:pPr>
            <a:r>
              <a:rPr lang="en-US" sz="3000" b="1" dirty="0">
                <a:solidFill>
                  <a:srgbClr val="1B1F24"/>
                </a:solidFill>
                <a:latin typeface="Cambria" pitchFamily="34" charset="0"/>
                <a:ea typeface="Cambria" pitchFamily="34" charset="-122"/>
                <a:cs typeface="Cambria" pitchFamily="34" charset="-120"/>
              </a:rPr>
              <a:t>1K</a:t>
            </a:r>
            <a:endParaRPr lang="en-US" sz="3000" dirty="0"/>
          </a:p>
        </p:txBody>
      </p:sp>
      <p:sp>
        <p:nvSpPr>
          <p:cNvPr id="6" name="Text 3"/>
          <p:cNvSpPr txBox="1"/>
          <p:nvPr/>
        </p:nvSpPr>
        <p:spPr>
          <a:xfrm>
            <a:off x="1737360" y="3017520"/>
            <a:ext cx="1280160" cy="27432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sales</a:t>
            </a:r>
            <a:endParaRPr lang="en-US" sz="1200" dirty="0"/>
          </a:p>
        </p:txBody>
      </p:sp>
      <p:sp>
        <p:nvSpPr>
          <p:cNvPr id="7" name="Shape 4"/>
          <p:cNvSpPr/>
          <p:nvPr/>
        </p:nvSpPr>
        <p:spPr>
          <a:xfrm>
            <a:off x="4663440" y="1581912"/>
            <a:ext cx="219456" cy="219456"/>
          </a:xfrm>
          <a:prstGeom prst="ellipse">
            <a:avLst/>
          </a:prstGeom>
          <a:solidFill>
            <a:srgbClr val="C8102E"/>
          </a:solidFill>
          <a:ln w="12700">
            <a:solidFill>
              <a:srgbClr val="C8102E"/>
            </a:solidFill>
            <a:prstDash val="solid"/>
          </a:ln>
        </p:spPr>
      </p:sp>
      <p:sp>
        <p:nvSpPr>
          <p:cNvPr id="8" name="Text 5"/>
          <p:cNvSpPr txBox="1"/>
          <p:nvPr/>
        </p:nvSpPr>
        <p:spPr>
          <a:xfrm>
            <a:off x="5029200" y="1463040"/>
            <a:ext cx="1737360" cy="457200"/>
          </a:xfrm>
          <a:prstGeom prst="rect">
            <a:avLst/>
          </a:prstGeom>
          <a:noFill/>
          <a:ln/>
        </p:spPr>
        <p:txBody>
          <a:bodyPr wrap="square" lIns="0" tIns="0" rIns="0" bIns="0" rtlCol="0" anchor="ctr"/>
          <a:lstStyle/>
          <a:p>
            <a:pPr indent="0" marL="0">
              <a:buNone/>
            </a:pPr>
            <a:r>
              <a:rPr lang="en-US" sz="1600" b="1" dirty="0">
                <a:solidFill>
                  <a:srgbClr val="1B1F24"/>
                </a:solidFill>
                <a:latin typeface="Calibri" pitchFamily="34" charset="0"/>
                <a:ea typeface="Calibri" pitchFamily="34" charset="-122"/>
                <a:cs typeface="Calibri" pitchFamily="34" charset="-120"/>
              </a:rPr>
              <a:t>Bank Finance</a:t>
            </a:r>
            <a:endParaRPr lang="en-US" sz="1600" dirty="0"/>
          </a:p>
        </p:txBody>
      </p:sp>
      <p:sp>
        <p:nvSpPr>
          <p:cNvPr id="9" name="Text 6"/>
          <p:cNvSpPr txBox="1"/>
          <p:nvPr/>
        </p:nvSpPr>
        <p:spPr>
          <a:xfrm>
            <a:off x="6583680" y="1463040"/>
            <a:ext cx="1097280" cy="457200"/>
          </a:xfrm>
          <a:prstGeom prst="rect">
            <a:avLst/>
          </a:prstGeom>
          <a:noFill/>
          <a:ln/>
        </p:spPr>
        <p:txBody>
          <a:bodyPr wrap="square" lIns="0" tIns="0" rIns="0" bIns="0" rtlCol="0" anchor="ctr"/>
          <a:lstStyle/>
          <a:p>
            <a:pPr algn="r" indent="0" marL="0">
              <a:buNone/>
            </a:pPr>
            <a:r>
              <a:rPr lang="en-US" sz="1300" dirty="0">
                <a:solidFill>
                  <a:srgbClr val="6B7280"/>
                </a:solidFill>
                <a:latin typeface="Calibri" pitchFamily="34" charset="0"/>
                <a:ea typeface="Calibri" pitchFamily="34" charset="-122"/>
                <a:cs typeface="Calibri" pitchFamily="34" charset="-120"/>
              </a:rPr>
              <a:t>214 sales</a:t>
            </a:r>
            <a:endParaRPr lang="en-US" sz="1300" dirty="0"/>
          </a:p>
        </p:txBody>
      </p:sp>
      <p:sp>
        <p:nvSpPr>
          <p:cNvPr id="10" name="Text 7"/>
          <p:cNvSpPr txBox="1"/>
          <p:nvPr/>
        </p:nvSpPr>
        <p:spPr>
          <a:xfrm>
            <a:off x="7772400" y="1463040"/>
            <a:ext cx="822960" cy="457200"/>
          </a:xfrm>
          <a:prstGeom prst="rect">
            <a:avLst/>
          </a:prstGeom>
          <a:noFill/>
          <a:ln/>
        </p:spPr>
        <p:txBody>
          <a:bodyPr wrap="square" lIns="0" tIns="0" rIns="0" bIns="0" rtlCol="0" anchor="ctr"/>
          <a:lstStyle/>
          <a:p>
            <a:pPr algn="r" indent="0" marL="0">
              <a:buNone/>
            </a:pPr>
            <a:r>
              <a:rPr lang="en-US" sz="1600" b="1" dirty="0">
                <a:solidFill>
                  <a:srgbClr val="C8102E"/>
                </a:solidFill>
                <a:latin typeface="Calibri" pitchFamily="34" charset="0"/>
                <a:ea typeface="Calibri" pitchFamily="34" charset="-122"/>
                <a:cs typeface="Calibri" pitchFamily="34" charset="-120"/>
              </a:rPr>
              <a:t>21.4%</a:t>
            </a:r>
            <a:endParaRPr lang="en-US" sz="1600" dirty="0"/>
          </a:p>
        </p:txBody>
      </p:sp>
      <p:sp>
        <p:nvSpPr>
          <p:cNvPr id="11" name="Shape 8"/>
          <p:cNvSpPr/>
          <p:nvPr/>
        </p:nvSpPr>
        <p:spPr>
          <a:xfrm>
            <a:off x="4663440" y="2103120"/>
            <a:ext cx="219456" cy="219456"/>
          </a:xfrm>
          <a:prstGeom prst="ellipse">
            <a:avLst/>
          </a:prstGeom>
          <a:solidFill>
            <a:srgbClr val="1B1F24"/>
          </a:solidFill>
          <a:ln w="12700">
            <a:solidFill>
              <a:srgbClr val="1B1F24"/>
            </a:solidFill>
            <a:prstDash val="solid"/>
          </a:ln>
        </p:spPr>
      </p:sp>
      <p:sp>
        <p:nvSpPr>
          <p:cNvPr id="12" name="Text 9"/>
          <p:cNvSpPr txBox="1"/>
          <p:nvPr/>
        </p:nvSpPr>
        <p:spPr>
          <a:xfrm>
            <a:off x="5029200" y="1984248"/>
            <a:ext cx="1737360" cy="457200"/>
          </a:xfrm>
          <a:prstGeom prst="rect">
            <a:avLst/>
          </a:prstGeom>
          <a:noFill/>
          <a:ln/>
        </p:spPr>
        <p:txBody>
          <a:bodyPr wrap="square" lIns="0" tIns="0" rIns="0" bIns="0" rtlCol="0" anchor="ctr"/>
          <a:lstStyle/>
          <a:p>
            <a:pPr indent="0" marL="0">
              <a:buNone/>
            </a:pPr>
            <a:r>
              <a:rPr lang="en-US" sz="1600" b="1" dirty="0">
                <a:solidFill>
                  <a:srgbClr val="1B1F24"/>
                </a:solidFill>
                <a:latin typeface="Calibri" pitchFamily="34" charset="0"/>
                <a:ea typeface="Calibri" pitchFamily="34" charset="-122"/>
                <a:cs typeface="Calibri" pitchFamily="34" charset="-120"/>
              </a:rPr>
              <a:t>UPI</a:t>
            </a:r>
            <a:endParaRPr lang="en-US" sz="1600" dirty="0"/>
          </a:p>
        </p:txBody>
      </p:sp>
      <p:sp>
        <p:nvSpPr>
          <p:cNvPr id="13" name="Text 10"/>
          <p:cNvSpPr txBox="1"/>
          <p:nvPr/>
        </p:nvSpPr>
        <p:spPr>
          <a:xfrm>
            <a:off x="6583680" y="1984248"/>
            <a:ext cx="1097280" cy="457200"/>
          </a:xfrm>
          <a:prstGeom prst="rect">
            <a:avLst/>
          </a:prstGeom>
          <a:noFill/>
          <a:ln/>
        </p:spPr>
        <p:txBody>
          <a:bodyPr wrap="square" lIns="0" tIns="0" rIns="0" bIns="0" rtlCol="0" anchor="ctr"/>
          <a:lstStyle/>
          <a:p>
            <a:pPr algn="r" indent="0" marL="0">
              <a:buNone/>
            </a:pPr>
            <a:r>
              <a:rPr lang="en-US" sz="1300" dirty="0">
                <a:solidFill>
                  <a:srgbClr val="6B7280"/>
                </a:solidFill>
                <a:latin typeface="Calibri" pitchFamily="34" charset="0"/>
                <a:ea typeface="Calibri" pitchFamily="34" charset="-122"/>
                <a:cs typeface="Calibri" pitchFamily="34" charset="-120"/>
              </a:rPr>
              <a:t>213 sales</a:t>
            </a:r>
            <a:endParaRPr lang="en-US" sz="1300" dirty="0"/>
          </a:p>
        </p:txBody>
      </p:sp>
      <p:sp>
        <p:nvSpPr>
          <p:cNvPr id="14" name="Text 11"/>
          <p:cNvSpPr txBox="1"/>
          <p:nvPr/>
        </p:nvSpPr>
        <p:spPr>
          <a:xfrm>
            <a:off x="7772400" y="1984248"/>
            <a:ext cx="822960" cy="457200"/>
          </a:xfrm>
          <a:prstGeom prst="rect">
            <a:avLst/>
          </a:prstGeom>
          <a:noFill/>
          <a:ln/>
        </p:spPr>
        <p:txBody>
          <a:bodyPr wrap="square" lIns="0" tIns="0" rIns="0" bIns="0" rtlCol="0" anchor="ctr"/>
          <a:lstStyle/>
          <a:p>
            <a:pPr algn="r" indent="0" marL="0">
              <a:buNone/>
            </a:pPr>
            <a:r>
              <a:rPr lang="en-US" sz="1600" b="1" dirty="0">
                <a:solidFill>
                  <a:srgbClr val="1B1F24"/>
                </a:solidFill>
                <a:latin typeface="Calibri" pitchFamily="34" charset="0"/>
                <a:ea typeface="Calibri" pitchFamily="34" charset="-122"/>
                <a:cs typeface="Calibri" pitchFamily="34" charset="-120"/>
              </a:rPr>
              <a:t>21.3%</a:t>
            </a:r>
            <a:endParaRPr lang="en-US" sz="1600" dirty="0"/>
          </a:p>
        </p:txBody>
      </p:sp>
      <p:sp>
        <p:nvSpPr>
          <p:cNvPr id="15" name="Shape 12"/>
          <p:cNvSpPr/>
          <p:nvPr/>
        </p:nvSpPr>
        <p:spPr>
          <a:xfrm>
            <a:off x="4663440" y="2624328"/>
            <a:ext cx="219456" cy="219456"/>
          </a:xfrm>
          <a:prstGeom prst="ellipse">
            <a:avLst/>
          </a:prstGeom>
          <a:solidFill>
            <a:srgbClr val="2F6B7A"/>
          </a:solidFill>
          <a:ln w="12700">
            <a:solidFill>
              <a:srgbClr val="2F6B7A"/>
            </a:solidFill>
            <a:prstDash val="solid"/>
          </a:ln>
        </p:spPr>
      </p:sp>
      <p:sp>
        <p:nvSpPr>
          <p:cNvPr id="16" name="Text 13"/>
          <p:cNvSpPr txBox="1"/>
          <p:nvPr/>
        </p:nvSpPr>
        <p:spPr>
          <a:xfrm>
            <a:off x="5029200" y="2505456"/>
            <a:ext cx="1737360" cy="457200"/>
          </a:xfrm>
          <a:prstGeom prst="rect">
            <a:avLst/>
          </a:prstGeom>
          <a:noFill/>
          <a:ln/>
        </p:spPr>
        <p:txBody>
          <a:bodyPr wrap="square" lIns="0" tIns="0" rIns="0" bIns="0" rtlCol="0" anchor="ctr"/>
          <a:lstStyle/>
          <a:p>
            <a:pPr indent="0" marL="0">
              <a:buNone/>
            </a:pPr>
            <a:r>
              <a:rPr lang="en-US" sz="1600" b="1" dirty="0">
                <a:solidFill>
                  <a:srgbClr val="1B1F24"/>
                </a:solidFill>
                <a:latin typeface="Calibri" pitchFamily="34" charset="0"/>
                <a:ea typeface="Calibri" pitchFamily="34" charset="-122"/>
                <a:cs typeface="Calibri" pitchFamily="34" charset="-120"/>
              </a:rPr>
              <a:t>Cash</a:t>
            </a:r>
            <a:endParaRPr lang="en-US" sz="1600" dirty="0"/>
          </a:p>
        </p:txBody>
      </p:sp>
      <p:sp>
        <p:nvSpPr>
          <p:cNvPr id="17" name="Text 14"/>
          <p:cNvSpPr txBox="1"/>
          <p:nvPr/>
        </p:nvSpPr>
        <p:spPr>
          <a:xfrm>
            <a:off x="6583680" y="2505456"/>
            <a:ext cx="1097280" cy="457200"/>
          </a:xfrm>
          <a:prstGeom prst="rect">
            <a:avLst/>
          </a:prstGeom>
          <a:noFill/>
          <a:ln/>
        </p:spPr>
        <p:txBody>
          <a:bodyPr wrap="square" lIns="0" tIns="0" rIns="0" bIns="0" rtlCol="0" anchor="ctr"/>
          <a:lstStyle/>
          <a:p>
            <a:pPr algn="r" indent="0" marL="0">
              <a:buNone/>
            </a:pPr>
            <a:r>
              <a:rPr lang="en-US" sz="1300" dirty="0">
                <a:solidFill>
                  <a:srgbClr val="6B7280"/>
                </a:solidFill>
                <a:latin typeface="Calibri" pitchFamily="34" charset="0"/>
                <a:ea typeface="Calibri" pitchFamily="34" charset="-122"/>
                <a:cs typeface="Calibri" pitchFamily="34" charset="-120"/>
              </a:rPr>
              <a:t>206 sales</a:t>
            </a:r>
            <a:endParaRPr lang="en-US" sz="1300" dirty="0"/>
          </a:p>
        </p:txBody>
      </p:sp>
      <p:sp>
        <p:nvSpPr>
          <p:cNvPr id="18" name="Text 15"/>
          <p:cNvSpPr txBox="1"/>
          <p:nvPr/>
        </p:nvSpPr>
        <p:spPr>
          <a:xfrm>
            <a:off x="7772400" y="2505456"/>
            <a:ext cx="822960" cy="457200"/>
          </a:xfrm>
          <a:prstGeom prst="rect">
            <a:avLst/>
          </a:prstGeom>
          <a:noFill/>
          <a:ln/>
        </p:spPr>
        <p:txBody>
          <a:bodyPr wrap="square" lIns="0" tIns="0" rIns="0" bIns="0" rtlCol="0" anchor="ctr"/>
          <a:lstStyle/>
          <a:p>
            <a:pPr algn="r" indent="0" marL="0">
              <a:buNone/>
            </a:pPr>
            <a:r>
              <a:rPr lang="en-US" sz="1600" b="1" dirty="0">
                <a:solidFill>
                  <a:srgbClr val="2F6B7A"/>
                </a:solidFill>
                <a:latin typeface="Calibri" pitchFamily="34" charset="0"/>
                <a:ea typeface="Calibri" pitchFamily="34" charset="-122"/>
                <a:cs typeface="Calibri" pitchFamily="34" charset="-120"/>
              </a:rPr>
              <a:t>20.6%</a:t>
            </a:r>
            <a:endParaRPr lang="en-US" sz="1600" dirty="0"/>
          </a:p>
        </p:txBody>
      </p:sp>
      <p:sp>
        <p:nvSpPr>
          <p:cNvPr id="19" name="Shape 16"/>
          <p:cNvSpPr/>
          <p:nvPr/>
        </p:nvSpPr>
        <p:spPr>
          <a:xfrm>
            <a:off x="4663440" y="3145536"/>
            <a:ext cx="219456" cy="219456"/>
          </a:xfrm>
          <a:prstGeom prst="ellipse">
            <a:avLst/>
          </a:prstGeom>
          <a:solidFill>
            <a:srgbClr val="B7791F"/>
          </a:solidFill>
          <a:ln w="12700">
            <a:solidFill>
              <a:srgbClr val="B7791F"/>
            </a:solidFill>
            <a:prstDash val="solid"/>
          </a:ln>
        </p:spPr>
      </p:sp>
      <p:sp>
        <p:nvSpPr>
          <p:cNvPr id="20" name="Text 17"/>
          <p:cNvSpPr txBox="1"/>
          <p:nvPr/>
        </p:nvSpPr>
        <p:spPr>
          <a:xfrm>
            <a:off x="5029200" y="3026664"/>
            <a:ext cx="1737360" cy="457200"/>
          </a:xfrm>
          <a:prstGeom prst="rect">
            <a:avLst/>
          </a:prstGeom>
          <a:noFill/>
          <a:ln/>
        </p:spPr>
        <p:txBody>
          <a:bodyPr wrap="square" lIns="0" tIns="0" rIns="0" bIns="0" rtlCol="0" anchor="ctr"/>
          <a:lstStyle/>
          <a:p>
            <a:pPr indent="0" marL="0">
              <a:buNone/>
            </a:pPr>
            <a:r>
              <a:rPr lang="en-US" sz="1600" b="1" dirty="0">
                <a:solidFill>
                  <a:srgbClr val="1B1F24"/>
                </a:solidFill>
                <a:latin typeface="Calibri" pitchFamily="34" charset="0"/>
                <a:ea typeface="Calibri" pitchFamily="34" charset="-122"/>
                <a:cs typeface="Calibri" pitchFamily="34" charset="-120"/>
              </a:rPr>
              <a:t>Credit Card</a:t>
            </a:r>
            <a:endParaRPr lang="en-US" sz="1600" dirty="0"/>
          </a:p>
        </p:txBody>
      </p:sp>
      <p:sp>
        <p:nvSpPr>
          <p:cNvPr id="21" name="Text 18"/>
          <p:cNvSpPr txBox="1"/>
          <p:nvPr/>
        </p:nvSpPr>
        <p:spPr>
          <a:xfrm>
            <a:off x="6583680" y="3026664"/>
            <a:ext cx="1097280" cy="457200"/>
          </a:xfrm>
          <a:prstGeom prst="rect">
            <a:avLst/>
          </a:prstGeom>
          <a:noFill/>
          <a:ln/>
        </p:spPr>
        <p:txBody>
          <a:bodyPr wrap="square" lIns="0" tIns="0" rIns="0" bIns="0" rtlCol="0" anchor="ctr"/>
          <a:lstStyle/>
          <a:p>
            <a:pPr algn="r" indent="0" marL="0">
              <a:buNone/>
            </a:pPr>
            <a:r>
              <a:rPr lang="en-US" sz="1300" dirty="0">
                <a:solidFill>
                  <a:srgbClr val="6B7280"/>
                </a:solidFill>
                <a:latin typeface="Calibri" pitchFamily="34" charset="0"/>
                <a:ea typeface="Calibri" pitchFamily="34" charset="-122"/>
                <a:cs typeface="Calibri" pitchFamily="34" charset="-120"/>
              </a:rPr>
              <a:t>196 sales</a:t>
            </a:r>
            <a:endParaRPr lang="en-US" sz="1300" dirty="0"/>
          </a:p>
        </p:txBody>
      </p:sp>
      <p:sp>
        <p:nvSpPr>
          <p:cNvPr id="22" name="Text 19"/>
          <p:cNvSpPr txBox="1"/>
          <p:nvPr/>
        </p:nvSpPr>
        <p:spPr>
          <a:xfrm>
            <a:off x="7772400" y="3026664"/>
            <a:ext cx="822960" cy="457200"/>
          </a:xfrm>
          <a:prstGeom prst="rect">
            <a:avLst/>
          </a:prstGeom>
          <a:noFill/>
          <a:ln/>
        </p:spPr>
        <p:txBody>
          <a:bodyPr wrap="square" lIns="0" tIns="0" rIns="0" bIns="0" rtlCol="0" anchor="ctr"/>
          <a:lstStyle/>
          <a:p>
            <a:pPr algn="r" indent="0" marL="0">
              <a:buNone/>
            </a:pPr>
            <a:r>
              <a:rPr lang="en-US" sz="1600" b="1" dirty="0">
                <a:solidFill>
                  <a:srgbClr val="B7791F"/>
                </a:solidFill>
                <a:latin typeface="Calibri" pitchFamily="34" charset="0"/>
                <a:ea typeface="Calibri" pitchFamily="34" charset="-122"/>
                <a:cs typeface="Calibri" pitchFamily="34" charset="-120"/>
              </a:rPr>
              <a:t>19.6%</a:t>
            </a:r>
            <a:endParaRPr lang="en-US" sz="1600" dirty="0"/>
          </a:p>
        </p:txBody>
      </p:sp>
      <p:sp>
        <p:nvSpPr>
          <p:cNvPr id="23" name="Shape 20"/>
          <p:cNvSpPr/>
          <p:nvPr/>
        </p:nvSpPr>
        <p:spPr>
          <a:xfrm>
            <a:off x="4663440" y="3666744"/>
            <a:ext cx="219456" cy="219456"/>
          </a:xfrm>
          <a:prstGeom prst="ellipse">
            <a:avLst/>
          </a:prstGeom>
          <a:solidFill>
            <a:srgbClr val="64748B"/>
          </a:solidFill>
          <a:ln w="12700">
            <a:solidFill>
              <a:srgbClr val="64748B"/>
            </a:solidFill>
            <a:prstDash val="solid"/>
          </a:ln>
        </p:spPr>
      </p:sp>
      <p:sp>
        <p:nvSpPr>
          <p:cNvPr id="24" name="Text 21"/>
          <p:cNvSpPr txBox="1"/>
          <p:nvPr/>
        </p:nvSpPr>
        <p:spPr>
          <a:xfrm>
            <a:off x="5029200" y="3547872"/>
            <a:ext cx="1737360" cy="457200"/>
          </a:xfrm>
          <a:prstGeom prst="rect">
            <a:avLst/>
          </a:prstGeom>
          <a:noFill/>
          <a:ln/>
        </p:spPr>
        <p:txBody>
          <a:bodyPr wrap="square" lIns="0" tIns="0" rIns="0" bIns="0" rtlCol="0" anchor="ctr"/>
          <a:lstStyle/>
          <a:p>
            <a:pPr indent="0" marL="0">
              <a:buNone/>
            </a:pPr>
            <a:r>
              <a:rPr lang="en-US" sz="1600" b="1" dirty="0">
                <a:solidFill>
                  <a:srgbClr val="1B1F24"/>
                </a:solidFill>
                <a:latin typeface="Calibri" pitchFamily="34" charset="0"/>
                <a:ea typeface="Calibri" pitchFamily="34" charset="-122"/>
                <a:cs typeface="Calibri" pitchFamily="34" charset="-120"/>
              </a:rPr>
              <a:t>Debit Card</a:t>
            </a:r>
            <a:endParaRPr lang="en-US" sz="1600" dirty="0"/>
          </a:p>
        </p:txBody>
      </p:sp>
      <p:sp>
        <p:nvSpPr>
          <p:cNvPr id="25" name="Text 22"/>
          <p:cNvSpPr txBox="1"/>
          <p:nvPr/>
        </p:nvSpPr>
        <p:spPr>
          <a:xfrm>
            <a:off x="6583680" y="3547872"/>
            <a:ext cx="1097280" cy="457200"/>
          </a:xfrm>
          <a:prstGeom prst="rect">
            <a:avLst/>
          </a:prstGeom>
          <a:noFill/>
          <a:ln/>
        </p:spPr>
        <p:txBody>
          <a:bodyPr wrap="square" lIns="0" tIns="0" rIns="0" bIns="0" rtlCol="0" anchor="ctr"/>
          <a:lstStyle/>
          <a:p>
            <a:pPr algn="r" indent="0" marL="0">
              <a:buNone/>
            </a:pPr>
            <a:r>
              <a:rPr lang="en-US" sz="1300" dirty="0">
                <a:solidFill>
                  <a:srgbClr val="6B7280"/>
                </a:solidFill>
                <a:latin typeface="Calibri" pitchFamily="34" charset="0"/>
                <a:ea typeface="Calibri" pitchFamily="34" charset="-122"/>
                <a:cs typeface="Calibri" pitchFamily="34" charset="-120"/>
              </a:rPr>
              <a:t>171 sales</a:t>
            </a:r>
            <a:endParaRPr lang="en-US" sz="1300" dirty="0"/>
          </a:p>
        </p:txBody>
      </p:sp>
      <p:sp>
        <p:nvSpPr>
          <p:cNvPr id="26" name="Text 23"/>
          <p:cNvSpPr txBox="1"/>
          <p:nvPr/>
        </p:nvSpPr>
        <p:spPr>
          <a:xfrm>
            <a:off x="7772400" y="3547872"/>
            <a:ext cx="822960" cy="457200"/>
          </a:xfrm>
          <a:prstGeom prst="rect">
            <a:avLst/>
          </a:prstGeom>
          <a:noFill/>
          <a:ln/>
        </p:spPr>
        <p:txBody>
          <a:bodyPr wrap="square" lIns="0" tIns="0" rIns="0" bIns="0" rtlCol="0" anchor="ctr"/>
          <a:lstStyle/>
          <a:p>
            <a:pPr algn="r" indent="0" marL="0">
              <a:buNone/>
            </a:pPr>
            <a:r>
              <a:rPr lang="en-US" sz="1600" b="1" dirty="0">
                <a:solidFill>
                  <a:srgbClr val="64748B"/>
                </a:solidFill>
                <a:latin typeface="Calibri" pitchFamily="34" charset="0"/>
                <a:ea typeface="Calibri" pitchFamily="34" charset="-122"/>
                <a:cs typeface="Calibri" pitchFamily="34" charset="-120"/>
              </a:rPr>
              <a:t>17.1%</a:t>
            </a:r>
            <a:endParaRPr lang="en-US" sz="1600" dirty="0"/>
          </a:p>
        </p:txBody>
      </p:sp>
      <p:sp>
        <p:nvSpPr>
          <p:cNvPr id="27" name="Text 24"/>
          <p:cNvSpPr txBox="1"/>
          <p:nvPr/>
        </p:nvSpPr>
        <p:spPr>
          <a:xfrm>
            <a:off x="4663440" y="4114800"/>
            <a:ext cx="3931920" cy="365760"/>
          </a:xfrm>
          <a:prstGeom prst="rect">
            <a:avLst/>
          </a:prstGeom>
          <a:noFill/>
          <a:ln/>
        </p:spPr>
        <p:txBody>
          <a:bodyPr wrap="square" lIns="0" tIns="0" rIns="0" bIns="0" rtlCol="0" anchor="t"/>
          <a:lstStyle/>
          <a:p>
            <a:pPr indent="0" marL="0">
              <a:buNone/>
            </a:pPr>
            <a:r>
              <a:rPr lang="en-US" sz="1400" b="1" dirty="0">
                <a:solidFill>
                  <a:srgbClr val="1B1F24"/>
                </a:solidFill>
                <a:latin typeface="Calibri" pitchFamily="34" charset="0"/>
                <a:ea typeface="Calibri" pitchFamily="34" charset="-122"/>
                <a:cs typeface="Calibri" pitchFamily="34" charset="-120"/>
              </a:rPr>
              <a:t>Bank Finance + UPI together = 42.7% of sales</a:t>
            </a:r>
            <a:endParaRPr lang="en-US" sz="1400" dirty="0"/>
          </a:p>
        </p:txBody>
      </p:sp>
      <p:sp>
        <p:nvSpPr>
          <p:cNvPr id="28" name="Text 25"/>
          <p:cNvSpPr txBox="1"/>
          <p:nvPr/>
        </p:nvSpPr>
        <p:spPr>
          <a:xfrm>
            <a:off x="548640" y="4754880"/>
            <a:ext cx="45720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Source: Mahindra Cars &amp; Tractors Sales dashboard</a:t>
            </a:r>
            <a:endParaRPr lang="en-US" sz="1000" dirty="0"/>
          </a:p>
        </p:txBody>
      </p:sp>
      <p:sp>
        <p:nvSpPr>
          <p:cNvPr id="29" name="Shape 26"/>
          <p:cNvSpPr/>
          <p:nvPr/>
        </p:nvSpPr>
        <p:spPr>
          <a:xfrm>
            <a:off x="6903720" y="4727448"/>
            <a:ext cx="1188720" cy="292608"/>
          </a:xfrm>
          <a:prstGeom prst="roundRect">
            <a:avLst>
              <a:gd name="adj" fmla="val 25000"/>
            </a:avLst>
          </a:prstGeom>
          <a:solidFill>
            <a:srgbClr val="F3F4F6"/>
          </a:solidFill>
          <a:ln w="12700">
            <a:solidFill>
              <a:srgbClr val="F3F4F6"/>
            </a:solidFill>
            <a:prstDash val="solid"/>
          </a:ln>
        </p:spPr>
      </p:sp>
      <p:sp>
        <p:nvSpPr>
          <p:cNvPr id="30" name="Text 27">
            <a:hlinkClick r:id="rId2" tooltip="Back to agenda" action="ppaction://hlinksldjump"/>
          </p:cNvPr>
          <p:cNvSpPr txBox="1"/>
          <p:nvPr/>
        </p:nvSpPr>
        <p:spPr>
          <a:xfrm>
            <a:off x="6903720" y="4727448"/>
            <a:ext cx="1188720" cy="292608"/>
          </a:xfrm>
          <a:prstGeom prst="rect">
            <a:avLst/>
          </a:prstGeom>
          <a:noFill/>
          <a:ln/>
        </p:spPr>
        <p:txBody>
          <a:bodyPr wrap="square" lIns="0" tIns="0" rIns="0" bIns="0" rtlCol="0" anchor="ctr"/>
          <a:lstStyle/>
          <a:p>
            <a:pPr algn="ctr" indent="0" marL="0">
              <a:buNone/>
            </a:pPr>
            <a:r>
              <a:rPr lang="en-US" sz="1100" u="sng" dirty="0">
                <a:solidFill>
                  <a:srgbClr val="374151"/>
                </a:solidFill>
                <a:latin typeface="Calibri" pitchFamily="34" charset="0"/>
                <a:ea typeface="Calibri" pitchFamily="34" charset="-122"/>
                <a:cs typeface="Calibri" pitchFamily="34" charset="-120"/>
                <a:hlinkClick r:id="rId2"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94360"/>
          </a:xfrm>
          <a:prstGeom prst="rect">
            <a:avLst/>
          </a:prstGeom>
          <a:noFill/>
          <a:ln/>
        </p:spPr>
        <p:txBody>
          <a:bodyPr wrap="square" lIns="0" tIns="0" rIns="0" bIns="0" rtlCol="0" anchor="ctr"/>
          <a:lstStyle/>
          <a:p>
            <a:pPr indent="0" marL="0">
              <a:buNone/>
            </a:pPr>
            <a:r>
              <a:rPr lang="en-US" sz="3200" b="1" dirty="0">
                <a:solidFill>
                  <a:srgbClr val="1B1F24"/>
                </a:solidFill>
                <a:latin typeface="Cambria" pitchFamily="34" charset="0"/>
                <a:ea typeface="Cambria" pitchFamily="34" charset="-122"/>
                <a:cs typeface="Cambria" pitchFamily="34" charset="-120"/>
              </a:rPr>
              <a:t>Discount activity by city</a:t>
            </a:r>
            <a:endParaRPr lang="en-US" sz="3200" dirty="0"/>
          </a:p>
        </p:txBody>
      </p:sp>
      <p:sp>
        <p:nvSpPr>
          <p:cNvPr id="3" name="Text 1"/>
          <p:cNvSpPr txBox="1"/>
          <p:nvPr/>
        </p:nvSpPr>
        <p:spPr>
          <a:xfrm>
            <a:off x="548640" y="914400"/>
            <a:ext cx="8046720"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Lucknow and Delhi record the most discounted sales</a:t>
            </a:r>
            <a:endParaRPr lang="en-US" sz="1600" dirty="0"/>
          </a:p>
        </p:txBody>
      </p:sp>
      <p:graphicFrame>
        <p:nvGraphicFramePr>
          <p:cNvPr id="4" name="Chart 0" descr=""/>
          <p:cNvGraphicFramePr/>
          <p:nvPr/>
        </p:nvGraphicFramePr>
        <p:xfrm>
          <a:off x="457200" y="1371600"/>
          <a:ext cx="5394960" cy="32461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080760" y="1463040"/>
            <a:ext cx="2514600" cy="3063240"/>
          </a:xfrm>
          <a:prstGeom prst="roundRect">
            <a:avLst>
              <a:gd name="adj" fmla="val 3636"/>
            </a:avLst>
          </a:prstGeom>
          <a:solidFill>
            <a:srgbClr val="F3F4F6"/>
          </a:solidFill>
          <a:ln w="12700">
            <a:solidFill>
              <a:srgbClr val="F3F4F6"/>
            </a:solidFill>
            <a:prstDash val="solid"/>
          </a:ln>
        </p:spPr>
      </p:sp>
      <p:sp>
        <p:nvSpPr>
          <p:cNvPr id="6" name="Text 3"/>
          <p:cNvSpPr txBox="1"/>
          <p:nvPr/>
        </p:nvSpPr>
        <p:spPr>
          <a:xfrm>
            <a:off x="6263640" y="1600200"/>
            <a:ext cx="2194560" cy="502920"/>
          </a:xfrm>
          <a:prstGeom prst="rect">
            <a:avLst/>
          </a:prstGeom>
          <a:noFill/>
          <a:ln/>
        </p:spPr>
        <p:txBody>
          <a:bodyPr wrap="square" lIns="0" tIns="0" rIns="0" bIns="0" rtlCol="0" anchor="ctr"/>
          <a:lstStyle/>
          <a:p>
            <a:pPr indent="0" marL="0">
              <a:buNone/>
            </a:pPr>
            <a:r>
              <a:rPr lang="en-US" sz="3200" b="1" dirty="0">
                <a:solidFill>
                  <a:srgbClr val="C8102E"/>
                </a:solidFill>
                <a:latin typeface="Cambria" pitchFamily="34" charset="0"/>
                <a:ea typeface="Cambria" pitchFamily="34" charset="-122"/>
                <a:cs typeface="Cambria" pitchFamily="34" charset="-120"/>
              </a:rPr>
              <a:t>≈104</a:t>
            </a:r>
            <a:endParaRPr lang="en-US" sz="3200" dirty="0"/>
          </a:p>
        </p:txBody>
      </p:sp>
      <p:sp>
        <p:nvSpPr>
          <p:cNvPr id="7" name="Text 4"/>
          <p:cNvSpPr txBox="1"/>
          <p:nvPr/>
        </p:nvSpPr>
        <p:spPr>
          <a:xfrm>
            <a:off x="6263640" y="2103120"/>
            <a:ext cx="2194560" cy="365760"/>
          </a:xfrm>
          <a:prstGeom prst="rect">
            <a:avLst/>
          </a:prstGeom>
          <a:noFill/>
          <a:ln/>
        </p:spPr>
        <p:txBody>
          <a:bodyPr wrap="square" lIns="0" tIns="0" rIns="0" bIns="0" rtlCol="0" anchor="t"/>
          <a:lstStyle/>
          <a:p>
            <a:pPr indent="0" marL="0">
              <a:buNone/>
            </a:pPr>
            <a:r>
              <a:rPr lang="en-US" sz="1300" dirty="0">
                <a:solidFill>
                  <a:srgbClr val="374151"/>
                </a:solidFill>
                <a:latin typeface="Calibri" pitchFamily="34" charset="0"/>
                <a:ea typeface="Calibri" pitchFamily="34" charset="-122"/>
                <a:cs typeface="Calibri" pitchFamily="34" charset="-120"/>
              </a:rPr>
              <a:t>Lucknow, the highest count</a:t>
            </a:r>
            <a:endParaRPr lang="en-US" sz="1300" dirty="0"/>
          </a:p>
        </p:txBody>
      </p:sp>
      <p:sp>
        <p:nvSpPr>
          <p:cNvPr id="8" name="Text 5"/>
          <p:cNvSpPr txBox="1"/>
          <p:nvPr/>
        </p:nvSpPr>
        <p:spPr>
          <a:xfrm>
            <a:off x="6263640" y="2606040"/>
            <a:ext cx="2194560" cy="1005840"/>
          </a:xfrm>
          <a:prstGeom prst="rect">
            <a:avLst/>
          </a:prstGeom>
          <a:noFill/>
          <a:ln/>
        </p:spPr>
        <p:txBody>
          <a:bodyPr wrap="square" lIns="0" tIns="0" rIns="0" bIns="0" rtlCol="0" anchor="t"/>
          <a:lstStyle/>
          <a:p>
            <a:pPr indent="0" marL="0">
              <a:buNone/>
            </a:pPr>
            <a:r>
              <a:rPr lang="en-US" sz="1300" dirty="0">
                <a:solidFill>
                  <a:srgbClr val="374151"/>
                </a:solidFill>
                <a:latin typeface="Calibri" pitchFamily="34" charset="0"/>
                <a:ea typeface="Calibri" pitchFamily="34" charset="-122"/>
                <a:cs typeface="Calibri" pitchFamily="34" charset="-120"/>
              </a:rPr>
              <a:t>This is a count of records carrying a discount value, so it reflects deal volume, not how deep discounts are.</a:t>
            </a:r>
            <a:endParaRPr lang="en-US" sz="1300" dirty="0"/>
          </a:p>
        </p:txBody>
      </p:sp>
      <p:sp>
        <p:nvSpPr>
          <p:cNvPr id="9" name="Text 6"/>
          <p:cNvSpPr txBox="1"/>
          <p:nvPr/>
        </p:nvSpPr>
        <p:spPr>
          <a:xfrm>
            <a:off x="6263640" y="3749040"/>
            <a:ext cx="2194560" cy="64008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Values read from the chart (approx.). The list scrolls; eight cities shown.</a:t>
            </a:r>
            <a:endParaRPr lang="en-US" sz="1100" dirty="0"/>
          </a:p>
        </p:txBody>
      </p:sp>
      <p:sp>
        <p:nvSpPr>
          <p:cNvPr id="10" name="Text 7"/>
          <p:cNvSpPr txBox="1"/>
          <p:nvPr/>
        </p:nvSpPr>
        <p:spPr>
          <a:xfrm>
            <a:off x="548640" y="4754880"/>
            <a:ext cx="45720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Source: Mahindra Cars &amp; Tractors Sales dashboard</a:t>
            </a:r>
            <a:endParaRPr lang="en-US" sz="1000" dirty="0"/>
          </a:p>
        </p:txBody>
      </p:sp>
      <p:sp>
        <p:nvSpPr>
          <p:cNvPr id="11" name="Shape 8"/>
          <p:cNvSpPr/>
          <p:nvPr/>
        </p:nvSpPr>
        <p:spPr>
          <a:xfrm>
            <a:off x="6903720" y="4727448"/>
            <a:ext cx="1188720" cy="292608"/>
          </a:xfrm>
          <a:prstGeom prst="roundRect">
            <a:avLst>
              <a:gd name="adj" fmla="val 25000"/>
            </a:avLst>
          </a:prstGeom>
          <a:solidFill>
            <a:srgbClr val="F3F4F6"/>
          </a:solidFill>
          <a:ln w="12700">
            <a:solidFill>
              <a:srgbClr val="F3F4F6"/>
            </a:solidFill>
            <a:prstDash val="solid"/>
          </a:ln>
        </p:spPr>
      </p:sp>
      <p:sp>
        <p:nvSpPr>
          <p:cNvPr id="12" name="Text 9">
            <a:hlinkClick r:id="rId2" tooltip="Back to agenda" action="ppaction://hlinksldjump"/>
          </p:cNvPr>
          <p:cNvSpPr txBox="1"/>
          <p:nvPr/>
        </p:nvSpPr>
        <p:spPr>
          <a:xfrm>
            <a:off x="6903720" y="4727448"/>
            <a:ext cx="1188720" cy="292608"/>
          </a:xfrm>
          <a:prstGeom prst="rect">
            <a:avLst/>
          </a:prstGeom>
          <a:noFill/>
          <a:ln/>
        </p:spPr>
        <p:txBody>
          <a:bodyPr wrap="square" lIns="0" tIns="0" rIns="0" bIns="0" rtlCol="0" anchor="ctr"/>
          <a:lstStyle/>
          <a:p>
            <a:pPr algn="ctr" indent="0" marL="0">
              <a:buNone/>
            </a:pPr>
            <a:r>
              <a:rPr lang="en-US" sz="1100" u="sng" dirty="0">
                <a:solidFill>
                  <a:srgbClr val="374151"/>
                </a:solidFill>
                <a:latin typeface="Calibri" pitchFamily="34" charset="0"/>
                <a:ea typeface="Calibri" pitchFamily="34" charset="-122"/>
                <a:cs typeface="Calibri" pitchFamily="34" charset="-120"/>
                <a:hlinkClick r:id="rId2"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94360"/>
          </a:xfrm>
          <a:prstGeom prst="rect">
            <a:avLst/>
          </a:prstGeom>
          <a:noFill/>
          <a:ln/>
        </p:spPr>
        <p:txBody>
          <a:bodyPr wrap="square" lIns="0" tIns="0" rIns="0" bIns="0" rtlCol="0" anchor="ctr"/>
          <a:lstStyle/>
          <a:p>
            <a:pPr indent="0" marL="0">
              <a:buNone/>
            </a:pPr>
            <a:r>
              <a:rPr lang="en-US" sz="3200" b="1" dirty="0">
                <a:solidFill>
                  <a:srgbClr val="1B1F24"/>
                </a:solidFill>
                <a:latin typeface="Cambria" pitchFamily="34" charset="0"/>
                <a:ea typeface="Cambria" pitchFamily="34" charset="-122"/>
                <a:cs typeface="Cambria" pitchFamily="34" charset="-120"/>
              </a:rPr>
              <a:t>Revenue by city</a:t>
            </a:r>
            <a:endParaRPr lang="en-US" sz="3200" dirty="0"/>
          </a:p>
        </p:txBody>
      </p:sp>
      <p:sp>
        <p:nvSpPr>
          <p:cNvPr id="3" name="Text 1"/>
          <p:cNvSpPr txBox="1"/>
          <p:nvPr/>
        </p:nvSpPr>
        <p:spPr>
          <a:xfrm>
            <a:off x="548640" y="914400"/>
            <a:ext cx="8046720"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Sales value steps down from Lucknow to Indore</a:t>
            </a:r>
            <a:endParaRPr lang="en-US" sz="1600" dirty="0"/>
          </a:p>
        </p:txBody>
      </p:sp>
      <p:graphicFrame>
        <p:nvGraphicFramePr>
          <p:cNvPr id="4" name="Chart 0" descr=""/>
          <p:cNvGraphicFramePr/>
          <p:nvPr/>
        </p:nvGraphicFramePr>
        <p:xfrm>
          <a:off x="457200" y="1371600"/>
          <a:ext cx="5669280" cy="32461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355080" y="1463040"/>
            <a:ext cx="2240280" cy="3063240"/>
          </a:xfrm>
          <a:prstGeom prst="roundRect">
            <a:avLst>
              <a:gd name="adj" fmla="val 4082"/>
            </a:avLst>
          </a:prstGeom>
          <a:solidFill>
            <a:srgbClr val="F3F4F6"/>
          </a:solidFill>
          <a:ln w="12700">
            <a:solidFill>
              <a:srgbClr val="F3F4F6"/>
            </a:solidFill>
            <a:prstDash val="solid"/>
          </a:ln>
        </p:spPr>
      </p:sp>
      <p:sp>
        <p:nvSpPr>
          <p:cNvPr id="6" name="Text 3"/>
          <p:cNvSpPr txBox="1"/>
          <p:nvPr/>
        </p:nvSpPr>
        <p:spPr>
          <a:xfrm>
            <a:off x="6537960" y="1600200"/>
            <a:ext cx="1920240" cy="502920"/>
          </a:xfrm>
          <a:prstGeom prst="rect">
            <a:avLst/>
          </a:prstGeom>
          <a:noFill/>
          <a:ln/>
        </p:spPr>
        <p:txBody>
          <a:bodyPr wrap="square" lIns="0" tIns="0" rIns="0" bIns="0" rtlCol="0" anchor="ctr"/>
          <a:lstStyle/>
          <a:p>
            <a:pPr indent="0" marL="0">
              <a:buNone/>
            </a:pPr>
            <a:r>
              <a:rPr lang="en-US" sz="3200" b="1" dirty="0">
                <a:solidFill>
                  <a:srgbClr val="C8102E"/>
                </a:solidFill>
                <a:latin typeface="Cambria" pitchFamily="34" charset="0"/>
                <a:ea typeface="Cambria" pitchFamily="34" charset="-122"/>
                <a:cs typeface="Cambria" pitchFamily="34" charset="-120"/>
              </a:rPr>
              <a:t>≈140M</a:t>
            </a:r>
            <a:endParaRPr lang="en-US" sz="3200" dirty="0"/>
          </a:p>
        </p:txBody>
      </p:sp>
      <p:sp>
        <p:nvSpPr>
          <p:cNvPr id="7" name="Text 4"/>
          <p:cNvSpPr txBox="1"/>
          <p:nvPr/>
        </p:nvSpPr>
        <p:spPr>
          <a:xfrm>
            <a:off x="6537960" y="2103120"/>
            <a:ext cx="1920240" cy="365760"/>
          </a:xfrm>
          <a:prstGeom prst="rect">
            <a:avLst/>
          </a:prstGeom>
          <a:noFill/>
          <a:ln/>
        </p:spPr>
        <p:txBody>
          <a:bodyPr wrap="square" lIns="0" tIns="0" rIns="0" bIns="0" rtlCol="0" anchor="t"/>
          <a:lstStyle/>
          <a:p>
            <a:pPr indent="0" marL="0">
              <a:buNone/>
            </a:pPr>
            <a:r>
              <a:rPr lang="en-US" sz="1300" dirty="0">
                <a:solidFill>
                  <a:srgbClr val="374151"/>
                </a:solidFill>
                <a:latin typeface="Calibri" pitchFamily="34" charset="0"/>
                <a:ea typeface="Calibri" pitchFamily="34" charset="-122"/>
                <a:cs typeface="Calibri" pitchFamily="34" charset="-120"/>
              </a:rPr>
              <a:t>Lucknow, the top city (INR)</a:t>
            </a:r>
            <a:endParaRPr lang="en-US" sz="1300" dirty="0"/>
          </a:p>
        </p:txBody>
      </p:sp>
      <p:sp>
        <p:nvSpPr>
          <p:cNvPr id="8" name="Text 5"/>
          <p:cNvSpPr txBox="1"/>
          <p:nvPr/>
        </p:nvSpPr>
        <p:spPr>
          <a:xfrm>
            <a:off x="6537960" y="2560320"/>
            <a:ext cx="1920240" cy="502920"/>
          </a:xfrm>
          <a:prstGeom prst="rect">
            <a:avLst/>
          </a:prstGeom>
          <a:noFill/>
          <a:ln/>
        </p:spPr>
        <p:txBody>
          <a:bodyPr wrap="square" lIns="0" tIns="0" rIns="0" bIns="0" rtlCol="0" anchor="ctr"/>
          <a:lstStyle/>
          <a:p>
            <a:pPr indent="0" marL="0">
              <a:buNone/>
            </a:pPr>
            <a:r>
              <a:rPr lang="en-US" sz="3200" b="1" dirty="0">
                <a:solidFill>
                  <a:srgbClr val="64748B"/>
                </a:solidFill>
                <a:latin typeface="Cambria" pitchFamily="34" charset="0"/>
                <a:ea typeface="Cambria" pitchFamily="34" charset="-122"/>
                <a:cs typeface="Cambria" pitchFamily="34" charset="-120"/>
              </a:rPr>
              <a:t>≈98M</a:t>
            </a:r>
            <a:endParaRPr lang="en-US" sz="3200" dirty="0"/>
          </a:p>
        </p:txBody>
      </p:sp>
      <p:sp>
        <p:nvSpPr>
          <p:cNvPr id="9" name="Text 6"/>
          <p:cNvSpPr txBox="1"/>
          <p:nvPr/>
        </p:nvSpPr>
        <p:spPr>
          <a:xfrm>
            <a:off x="6537960" y="3063240"/>
            <a:ext cx="1920240" cy="365760"/>
          </a:xfrm>
          <a:prstGeom prst="rect">
            <a:avLst/>
          </a:prstGeom>
          <a:noFill/>
          <a:ln/>
        </p:spPr>
        <p:txBody>
          <a:bodyPr wrap="square" lIns="0" tIns="0" rIns="0" bIns="0" rtlCol="0" anchor="t"/>
          <a:lstStyle/>
          <a:p>
            <a:pPr indent="0" marL="0">
              <a:buNone/>
            </a:pPr>
            <a:r>
              <a:rPr lang="en-US" sz="1300" dirty="0">
                <a:solidFill>
                  <a:srgbClr val="374151"/>
                </a:solidFill>
                <a:latin typeface="Calibri" pitchFamily="34" charset="0"/>
                <a:ea typeface="Calibri" pitchFamily="34" charset="-122"/>
                <a:cs typeface="Calibri" pitchFamily="34" charset="-120"/>
              </a:rPr>
              <a:t>Indore, the lowest shown (INR)</a:t>
            </a:r>
            <a:endParaRPr lang="en-US" sz="1300" dirty="0"/>
          </a:p>
        </p:txBody>
      </p:sp>
      <p:sp>
        <p:nvSpPr>
          <p:cNvPr id="10" name="Text 7"/>
          <p:cNvSpPr txBox="1"/>
          <p:nvPr/>
        </p:nvSpPr>
        <p:spPr>
          <a:xfrm>
            <a:off x="6537960" y="3520440"/>
            <a:ext cx="1920240" cy="502920"/>
          </a:xfrm>
          <a:prstGeom prst="rect">
            <a:avLst/>
          </a:prstGeom>
          <a:noFill/>
          <a:ln/>
        </p:spPr>
        <p:txBody>
          <a:bodyPr wrap="square" lIns="0" tIns="0" rIns="0" bIns="0" rtlCol="0" anchor="ctr"/>
          <a:lstStyle/>
          <a:p>
            <a:pPr indent="0" marL="0">
              <a:buNone/>
            </a:pPr>
            <a:r>
              <a:rPr lang="en-US" sz="3200" b="1" dirty="0">
                <a:solidFill>
                  <a:srgbClr val="2F6B7A"/>
                </a:solidFill>
                <a:latin typeface="Cambria" pitchFamily="34" charset="0"/>
                <a:ea typeface="Cambria" pitchFamily="34" charset="-122"/>
                <a:cs typeface="Cambria" pitchFamily="34" charset="-120"/>
              </a:rPr>
              <a:t>≈30%</a:t>
            </a:r>
            <a:endParaRPr lang="en-US" sz="3200" dirty="0"/>
          </a:p>
        </p:txBody>
      </p:sp>
      <p:sp>
        <p:nvSpPr>
          <p:cNvPr id="11" name="Text 8"/>
          <p:cNvSpPr txBox="1"/>
          <p:nvPr/>
        </p:nvSpPr>
        <p:spPr>
          <a:xfrm>
            <a:off x="6537960" y="4023360"/>
            <a:ext cx="1920240" cy="365760"/>
          </a:xfrm>
          <a:prstGeom prst="rect">
            <a:avLst/>
          </a:prstGeom>
          <a:noFill/>
          <a:ln/>
        </p:spPr>
        <p:txBody>
          <a:bodyPr wrap="square" lIns="0" tIns="0" rIns="0" bIns="0" rtlCol="0" anchor="t"/>
          <a:lstStyle/>
          <a:p>
            <a:pPr indent="0" marL="0">
              <a:buNone/>
            </a:pPr>
            <a:r>
              <a:rPr lang="en-US" sz="1300" dirty="0">
                <a:solidFill>
                  <a:srgbClr val="374151"/>
                </a:solidFill>
                <a:latin typeface="Calibri" pitchFamily="34" charset="0"/>
                <a:ea typeface="Calibri" pitchFamily="34" charset="-122"/>
                <a:cs typeface="Calibri" pitchFamily="34" charset="-120"/>
              </a:rPr>
              <a:t>Drop from first to last</a:t>
            </a:r>
            <a:endParaRPr lang="en-US" sz="1300" dirty="0"/>
          </a:p>
        </p:txBody>
      </p:sp>
      <p:sp>
        <p:nvSpPr>
          <p:cNvPr id="12" name="Text 9"/>
          <p:cNvSpPr txBox="1"/>
          <p:nvPr/>
        </p:nvSpPr>
        <p:spPr>
          <a:xfrm>
            <a:off x="548640" y="4754880"/>
            <a:ext cx="45720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Source: Mahindra Cars &amp; Tractors Sales dashboard</a:t>
            </a:r>
            <a:endParaRPr lang="en-US" sz="1000" dirty="0"/>
          </a:p>
        </p:txBody>
      </p:sp>
      <p:sp>
        <p:nvSpPr>
          <p:cNvPr id="13" name="Shape 10"/>
          <p:cNvSpPr/>
          <p:nvPr/>
        </p:nvSpPr>
        <p:spPr>
          <a:xfrm>
            <a:off x="6903720" y="4727448"/>
            <a:ext cx="1188720" cy="292608"/>
          </a:xfrm>
          <a:prstGeom prst="roundRect">
            <a:avLst>
              <a:gd name="adj" fmla="val 25000"/>
            </a:avLst>
          </a:prstGeom>
          <a:solidFill>
            <a:srgbClr val="F3F4F6"/>
          </a:solidFill>
          <a:ln w="12700">
            <a:solidFill>
              <a:srgbClr val="F3F4F6"/>
            </a:solidFill>
            <a:prstDash val="solid"/>
          </a:ln>
        </p:spPr>
      </p:sp>
      <p:sp>
        <p:nvSpPr>
          <p:cNvPr id="14" name="Text 11">
            <a:hlinkClick r:id="rId2" tooltip="Back to agenda" action="ppaction://hlinksldjump"/>
          </p:cNvPr>
          <p:cNvSpPr txBox="1"/>
          <p:nvPr/>
        </p:nvSpPr>
        <p:spPr>
          <a:xfrm>
            <a:off x="6903720" y="4727448"/>
            <a:ext cx="1188720" cy="292608"/>
          </a:xfrm>
          <a:prstGeom prst="rect">
            <a:avLst/>
          </a:prstGeom>
          <a:noFill/>
          <a:ln/>
        </p:spPr>
        <p:txBody>
          <a:bodyPr wrap="square" lIns="0" tIns="0" rIns="0" bIns="0" rtlCol="0" anchor="ctr"/>
          <a:lstStyle/>
          <a:p>
            <a:pPr algn="ctr" indent="0" marL="0">
              <a:buNone/>
            </a:pPr>
            <a:r>
              <a:rPr lang="en-US" sz="1100" u="sng" dirty="0">
                <a:solidFill>
                  <a:srgbClr val="374151"/>
                </a:solidFill>
                <a:latin typeface="Calibri" pitchFamily="34" charset="0"/>
                <a:ea typeface="Calibri" pitchFamily="34" charset="-122"/>
                <a:cs typeface="Calibri" pitchFamily="34" charset="-120"/>
                <a:hlinkClick r:id="rId2"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94360"/>
          </a:xfrm>
          <a:prstGeom prst="rect">
            <a:avLst/>
          </a:prstGeom>
          <a:noFill/>
          <a:ln/>
        </p:spPr>
        <p:txBody>
          <a:bodyPr wrap="square" lIns="0" tIns="0" rIns="0" bIns="0" rtlCol="0" anchor="ctr"/>
          <a:lstStyle/>
          <a:p>
            <a:pPr indent="0" marL="0">
              <a:buNone/>
            </a:pPr>
            <a:r>
              <a:rPr lang="en-US" sz="3200" b="1" dirty="0">
                <a:solidFill>
                  <a:srgbClr val="1B1F24"/>
                </a:solidFill>
                <a:latin typeface="Cambria" pitchFamily="34" charset="0"/>
                <a:ea typeface="Cambria" pitchFamily="34" charset="-122"/>
                <a:cs typeface="Cambria" pitchFamily="34" charset="-120"/>
              </a:rPr>
              <a:t>Vehicle category mix</a:t>
            </a:r>
            <a:endParaRPr lang="en-US" sz="3200" dirty="0"/>
          </a:p>
        </p:txBody>
      </p:sp>
      <p:sp>
        <p:nvSpPr>
          <p:cNvPr id="3" name="Text 1"/>
          <p:cNvSpPr txBox="1"/>
          <p:nvPr/>
        </p:nvSpPr>
        <p:spPr>
          <a:xfrm>
            <a:off x="548640" y="914400"/>
            <a:ext cx="8046720"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Cars &amp; SUVs bring in nearly three-quarters of sales value</a:t>
            </a:r>
            <a:endParaRPr lang="en-US" sz="1600" dirty="0"/>
          </a:p>
        </p:txBody>
      </p:sp>
      <p:graphicFrame>
        <p:nvGraphicFramePr>
          <p:cNvPr id="4" name="Chart 0" descr=""/>
          <p:cNvGraphicFramePr/>
          <p:nvPr/>
        </p:nvGraphicFramePr>
        <p:xfrm>
          <a:off x="457200" y="1371600"/>
          <a:ext cx="384048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663440" y="1463040"/>
            <a:ext cx="1920240" cy="502920"/>
          </a:xfrm>
          <a:prstGeom prst="rect">
            <a:avLst/>
          </a:prstGeom>
          <a:noFill/>
          <a:ln/>
        </p:spPr>
        <p:txBody>
          <a:bodyPr wrap="square" lIns="0" tIns="0" rIns="0" bIns="0" rtlCol="0" anchor="ctr"/>
          <a:lstStyle/>
          <a:p>
            <a:pPr indent="0" marL="0">
              <a:buNone/>
            </a:pPr>
            <a:r>
              <a:rPr lang="en-US" sz="3200" b="1" dirty="0">
                <a:solidFill>
                  <a:srgbClr val="C8102E"/>
                </a:solidFill>
                <a:latin typeface="Cambria" pitchFamily="34" charset="0"/>
                <a:ea typeface="Cambria" pitchFamily="34" charset="-122"/>
                <a:cs typeface="Cambria" pitchFamily="34" charset="-120"/>
              </a:rPr>
              <a:t>73.79%</a:t>
            </a:r>
            <a:endParaRPr lang="en-US" sz="3200" dirty="0"/>
          </a:p>
        </p:txBody>
      </p:sp>
      <p:sp>
        <p:nvSpPr>
          <p:cNvPr id="6" name="Text 3"/>
          <p:cNvSpPr txBox="1"/>
          <p:nvPr/>
        </p:nvSpPr>
        <p:spPr>
          <a:xfrm>
            <a:off x="4663440" y="1965960"/>
            <a:ext cx="1920240" cy="274320"/>
          </a:xfrm>
          <a:prstGeom prst="rect">
            <a:avLst/>
          </a:prstGeom>
          <a:noFill/>
          <a:ln/>
        </p:spPr>
        <p:txBody>
          <a:bodyPr wrap="square" lIns="0" tIns="0" rIns="0" bIns="0" rtlCol="0" anchor="t"/>
          <a:lstStyle/>
          <a:p>
            <a:pPr indent="0" marL="0">
              <a:buNone/>
            </a:pPr>
            <a:r>
              <a:rPr lang="en-US" sz="1400" dirty="0">
                <a:solidFill>
                  <a:srgbClr val="374151"/>
                </a:solidFill>
                <a:latin typeface="Calibri" pitchFamily="34" charset="0"/>
                <a:ea typeface="Calibri" pitchFamily="34" charset="-122"/>
                <a:cs typeface="Calibri" pitchFamily="34" charset="-120"/>
              </a:rPr>
              <a:t>Cars &amp; SUVs</a:t>
            </a:r>
            <a:endParaRPr lang="en-US" sz="1400" dirty="0"/>
          </a:p>
        </p:txBody>
      </p:sp>
      <p:sp>
        <p:nvSpPr>
          <p:cNvPr id="7" name="Text 4"/>
          <p:cNvSpPr txBox="1"/>
          <p:nvPr/>
        </p:nvSpPr>
        <p:spPr>
          <a:xfrm>
            <a:off x="6675120" y="1463040"/>
            <a:ext cx="1920240" cy="502920"/>
          </a:xfrm>
          <a:prstGeom prst="rect">
            <a:avLst/>
          </a:prstGeom>
          <a:noFill/>
          <a:ln/>
        </p:spPr>
        <p:txBody>
          <a:bodyPr wrap="square" lIns="0" tIns="0" rIns="0" bIns="0" rtlCol="0" anchor="ctr"/>
          <a:lstStyle/>
          <a:p>
            <a:pPr indent="0" marL="0">
              <a:buNone/>
            </a:pPr>
            <a:r>
              <a:rPr lang="en-US" sz="3200" b="1" dirty="0">
                <a:solidFill>
                  <a:srgbClr val="1B1F24"/>
                </a:solidFill>
                <a:latin typeface="Cambria" pitchFamily="34" charset="0"/>
                <a:ea typeface="Cambria" pitchFamily="34" charset="-122"/>
                <a:cs typeface="Cambria" pitchFamily="34" charset="-120"/>
              </a:rPr>
              <a:t>26.21%</a:t>
            </a:r>
            <a:endParaRPr lang="en-US" sz="3200" dirty="0"/>
          </a:p>
        </p:txBody>
      </p:sp>
      <p:sp>
        <p:nvSpPr>
          <p:cNvPr id="8" name="Text 5"/>
          <p:cNvSpPr txBox="1"/>
          <p:nvPr/>
        </p:nvSpPr>
        <p:spPr>
          <a:xfrm>
            <a:off x="6675120" y="1965960"/>
            <a:ext cx="1920240" cy="274320"/>
          </a:xfrm>
          <a:prstGeom prst="rect">
            <a:avLst/>
          </a:prstGeom>
          <a:noFill/>
          <a:ln/>
        </p:spPr>
        <p:txBody>
          <a:bodyPr wrap="square" lIns="0" tIns="0" rIns="0" bIns="0" rtlCol="0" anchor="t"/>
          <a:lstStyle/>
          <a:p>
            <a:pPr indent="0" marL="0">
              <a:buNone/>
            </a:pPr>
            <a:r>
              <a:rPr lang="en-US" sz="1400" dirty="0">
                <a:solidFill>
                  <a:srgbClr val="374151"/>
                </a:solidFill>
                <a:latin typeface="Calibri" pitchFamily="34" charset="0"/>
                <a:ea typeface="Calibri" pitchFamily="34" charset="-122"/>
                <a:cs typeface="Calibri" pitchFamily="34" charset="-120"/>
              </a:rPr>
              <a:t>Tractors</a:t>
            </a:r>
            <a:endParaRPr lang="en-US" sz="1400" dirty="0"/>
          </a:p>
        </p:txBody>
      </p:sp>
      <p:sp>
        <p:nvSpPr>
          <p:cNvPr id="9" name="Text 6"/>
          <p:cNvSpPr txBox="1"/>
          <p:nvPr/>
        </p:nvSpPr>
        <p:spPr>
          <a:xfrm>
            <a:off x="4663440" y="2514600"/>
            <a:ext cx="3931920" cy="640080"/>
          </a:xfrm>
          <a:prstGeom prst="rect">
            <a:avLst/>
          </a:prstGeom>
          <a:noFill/>
          <a:ln/>
        </p:spPr>
        <p:txBody>
          <a:bodyPr wrap="square" lIns="0" tIns="0" rIns="0" bIns="0" rtlCol="0" anchor="t"/>
          <a:lstStyle/>
          <a:p>
            <a:pPr indent="0" marL="0">
              <a:buNone/>
            </a:pPr>
            <a:r>
              <a:rPr lang="en-US" sz="1800" b="1" dirty="0">
                <a:solidFill>
                  <a:srgbClr val="C8102E"/>
                </a:solidFill>
                <a:latin typeface="Calibri" pitchFamily="34" charset="0"/>
                <a:ea typeface="Calibri" pitchFamily="34" charset="-122"/>
                <a:cs typeface="Calibri" pitchFamily="34" charset="-120"/>
              </a:rPr>
              <a:t>≈2.8× </a:t>
            </a:r>
            <a:pPr indent="0" marL="0">
              <a:buNone/>
            </a:pPr>
            <a:r>
              <a:rPr lang="en-US" sz="1400" dirty="0">
                <a:solidFill>
                  <a:srgbClr val="374151"/>
                </a:solidFill>
                <a:latin typeface="Calibri" pitchFamily="34" charset="0"/>
                <a:ea typeface="Calibri" pitchFamily="34" charset="-122"/>
                <a:cs typeface="Calibri" pitchFamily="34" charset="-120"/>
              </a:rPr>
              <a:t>more sales value from Cars &amp; SUVs than from Tractors</a:t>
            </a:r>
            <a:endParaRPr lang="en-US" sz="1400" dirty="0"/>
          </a:p>
        </p:txBody>
      </p:sp>
      <p:sp>
        <p:nvSpPr>
          <p:cNvPr id="10" name="Shape 7"/>
          <p:cNvSpPr/>
          <p:nvPr/>
        </p:nvSpPr>
        <p:spPr>
          <a:xfrm>
            <a:off x="4663440" y="3291840"/>
            <a:ext cx="3931920" cy="1234440"/>
          </a:xfrm>
          <a:prstGeom prst="roundRect">
            <a:avLst>
              <a:gd name="adj" fmla="val 7407"/>
            </a:avLst>
          </a:prstGeom>
          <a:solidFill>
            <a:srgbClr val="F3F4F6"/>
          </a:solidFill>
          <a:ln w="12700">
            <a:solidFill>
              <a:srgbClr val="F3F4F6"/>
            </a:solidFill>
            <a:prstDash val="solid"/>
          </a:ln>
        </p:spPr>
      </p:sp>
      <p:sp>
        <p:nvSpPr>
          <p:cNvPr id="11" name="Text 8"/>
          <p:cNvSpPr txBox="1"/>
          <p:nvPr/>
        </p:nvSpPr>
        <p:spPr>
          <a:xfrm>
            <a:off x="4846320" y="3383280"/>
            <a:ext cx="3566160" cy="1051560"/>
          </a:xfrm>
          <a:prstGeom prst="rect">
            <a:avLst/>
          </a:prstGeom>
          <a:noFill/>
          <a:ln/>
        </p:spPr>
        <p:txBody>
          <a:bodyPr wrap="square" lIns="0" tIns="0" rIns="0" bIns="0" rtlCol="0" anchor="t"/>
          <a:lstStyle/>
          <a:p>
            <a:pPr indent="0" marL="0">
              <a:buNone/>
            </a:pPr>
            <a:r>
              <a:rPr lang="en-US" sz="1200" b="1" dirty="0">
                <a:solidFill>
                  <a:srgbClr val="1B1F24"/>
                </a:solidFill>
                <a:latin typeface="Calibri" pitchFamily="34" charset="0"/>
                <a:ea typeface="Calibri" pitchFamily="34" charset="-122"/>
                <a:cs typeface="Calibri" pitchFamily="34" charset="-120"/>
              </a:rPr>
              <a:t>To confirm: </a:t>
            </a:r>
            <a:pPr indent="0" marL="0">
              <a:buNone/>
            </a:pPr>
            <a:r>
              <a:rPr lang="en-US" sz="1200" dirty="0">
                <a:solidFill>
                  <a:srgbClr val="374151"/>
                </a:solidFill>
                <a:latin typeface="Calibri" pitchFamily="34" charset="0"/>
                <a:ea typeface="Calibri" pitchFamily="34" charset="-122"/>
                <a:cs typeface="Calibri" pitchFamily="34" charset="-120"/>
              </a:rPr>
              <a:t>if YUVO TECH+, JIVO, NOVO and ARJUN are the tractors, they make up roughly 40% of sales records but only 26% of value, meaning lower value per sale.</a:t>
            </a:r>
            <a:endParaRPr lang="en-US" sz="1200" dirty="0"/>
          </a:p>
        </p:txBody>
      </p:sp>
      <p:sp>
        <p:nvSpPr>
          <p:cNvPr id="12" name="Text 9"/>
          <p:cNvSpPr txBox="1"/>
          <p:nvPr/>
        </p:nvSpPr>
        <p:spPr>
          <a:xfrm>
            <a:off x="548640" y="4754880"/>
            <a:ext cx="45720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Source: Mahindra Cars &amp; Tractors Sales dashboard</a:t>
            </a:r>
            <a:endParaRPr lang="en-US" sz="1000" dirty="0"/>
          </a:p>
        </p:txBody>
      </p:sp>
      <p:sp>
        <p:nvSpPr>
          <p:cNvPr id="13" name="Shape 10"/>
          <p:cNvSpPr/>
          <p:nvPr/>
        </p:nvSpPr>
        <p:spPr>
          <a:xfrm>
            <a:off x="6903720" y="4727448"/>
            <a:ext cx="1188720" cy="292608"/>
          </a:xfrm>
          <a:prstGeom prst="roundRect">
            <a:avLst>
              <a:gd name="adj" fmla="val 25000"/>
            </a:avLst>
          </a:prstGeom>
          <a:solidFill>
            <a:srgbClr val="F3F4F6"/>
          </a:solidFill>
          <a:ln w="12700">
            <a:solidFill>
              <a:srgbClr val="F3F4F6"/>
            </a:solidFill>
            <a:prstDash val="solid"/>
          </a:ln>
        </p:spPr>
      </p:sp>
      <p:sp>
        <p:nvSpPr>
          <p:cNvPr id="14" name="Text 11">
            <a:hlinkClick r:id="rId2" tooltip="Back to agenda" action="ppaction://hlinksldjump"/>
          </p:cNvPr>
          <p:cNvSpPr txBox="1"/>
          <p:nvPr/>
        </p:nvSpPr>
        <p:spPr>
          <a:xfrm>
            <a:off x="6903720" y="4727448"/>
            <a:ext cx="1188720" cy="292608"/>
          </a:xfrm>
          <a:prstGeom prst="rect">
            <a:avLst/>
          </a:prstGeom>
          <a:noFill/>
          <a:ln/>
        </p:spPr>
        <p:txBody>
          <a:bodyPr wrap="square" lIns="0" tIns="0" rIns="0" bIns="0" rtlCol="0" anchor="ctr"/>
          <a:lstStyle/>
          <a:p>
            <a:pPr algn="ctr" indent="0" marL="0">
              <a:buNone/>
            </a:pPr>
            <a:r>
              <a:rPr lang="en-US" sz="1100" u="sng" dirty="0">
                <a:solidFill>
                  <a:srgbClr val="374151"/>
                </a:solidFill>
                <a:latin typeface="Calibri" pitchFamily="34" charset="0"/>
                <a:ea typeface="Calibri" pitchFamily="34" charset="-122"/>
                <a:cs typeface="Calibri" pitchFamily="34" charset="-120"/>
                <a:hlinkClick r:id="rId2"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94360"/>
          </a:xfrm>
          <a:prstGeom prst="rect">
            <a:avLst/>
          </a:prstGeom>
          <a:noFill/>
          <a:ln/>
        </p:spPr>
        <p:txBody>
          <a:bodyPr wrap="square" lIns="0" tIns="0" rIns="0" bIns="0" rtlCol="0" anchor="ctr"/>
          <a:lstStyle/>
          <a:p>
            <a:pPr indent="0" marL="0">
              <a:buNone/>
            </a:pPr>
            <a:r>
              <a:rPr lang="en-US" sz="3200" b="1" dirty="0">
                <a:solidFill>
                  <a:srgbClr val="1B1F24"/>
                </a:solidFill>
                <a:latin typeface="Cambria" pitchFamily="34" charset="0"/>
                <a:ea typeface="Cambria" pitchFamily="34" charset="-122"/>
                <a:cs typeface="Cambria" pitchFamily="34" charset="-120"/>
              </a:rPr>
              <a:t>Data health check</a:t>
            </a:r>
            <a:endParaRPr lang="en-US" sz="3200" dirty="0"/>
          </a:p>
        </p:txBody>
      </p:sp>
      <p:sp>
        <p:nvSpPr>
          <p:cNvPr id="3" name="Text 1"/>
          <p:cNvSpPr txBox="1"/>
          <p:nvPr/>
        </p:nvSpPr>
        <p:spPr>
          <a:xfrm>
            <a:off x="548640" y="914400"/>
            <a:ext cx="8046720"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Four things to verify before sharing these numbers</a:t>
            </a:r>
            <a:endParaRPr lang="en-US" sz="1600" dirty="0"/>
          </a:p>
        </p:txBody>
      </p:sp>
      <p:sp>
        <p:nvSpPr>
          <p:cNvPr id="4" name="Shape 2"/>
          <p:cNvSpPr/>
          <p:nvPr/>
        </p:nvSpPr>
        <p:spPr>
          <a:xfrm>
            <a:off x="548640" y="1463040"/>
            <a:ext cx="3931920" cy="1417320"/>
          </a:xfrm>
          <a:prstGeom prst="roundRect">
            <a:avLst>
              <a:gd name="adj" fmla="val 6452"/>
            </a:avLst>
          </a:prstGeom>
          <a:solidFill>
            <a:srgbClr val="F3F4F6"/>
          </a:solidFill>
          <a:ln w="12700">
            <a:solidFill>
              <a:srgbClr val="F3F4F6"/>
            </a:solidFill>
            <a:prstDash val="solid"/>
          </a:ln>
        </p:spPr>
      </p:sp>
      <p:sp>
        <p:nvSpPr>
          <p:cNvPr id="5" name="Text 3"/>
          <p:cNvSpPr txBox="1"/>
          <p:nvPr/>
        </p:nvSpPr>
        <p:spPr>
          <a:xfrm>
            <a:off x="731520" y="1572768"/>
            <a:ext cx="3566160" cy="228600"/>
          </a:xfrm>
          <a:prstGeom prst="rect">
            <a:avLst/>
          </a:prstGeom>
          <a:noFill/>
          <a:ln/>
        </p:spPr>
        <p:txBody>
          <a:bodyPr wrap="square" lIns="0" tIns="0" rIns="0" bIns="0" rtlCol="0" anchor="t"/>
          <a:lstStyle/>
          <a:p>
            <a:pPr indent="0" marL="0">
              <a:buNone/>
            </a:pPr>
            <a:r>
              <a:rPr lang="en-US" sz="1100" b="1" dirty="0">
                <a:solidFill>
                  <a:srgbClr val="C8102E"/>
                </a:solidFill>
                <a:latin typeface="Calibri" pitchFamily="34" charset="0"/>
                <a:ea typeface="Calibri" pitchFamily="34" charset="-122"/>
                <a:cs typeface="Calibri" pitchFamily="34" charset="-120"/>
              </a:rPr>
              <a:t>COUNT VS DISTINCT</a:t>
            </a:r>
            <a:endParaRPr lang="en-US" sz="1100" dirty="0"/>
          </a:p>
        </p:txBody>
      </p:sp>
      <p:sp>
        <p:nvSpPr>
          <p:cNvPr id="6" name="Text 4"/>
          <p:cNvSpPr txBox="1"/>
          <p:nvPr/>
        </p:nvSpPr>
        <p:spPr>
          <a:xfrm>
            <a:off x="731520" y="1810512"/>
            <a:ext cx="3566160" cy="274320"/>
          </a:xfrm>
          <a:prstGeom prst="rect">
            <a:avLst/>
          </a:prstGeom>
          <a:noFill/>
          <a:ln/>
        </p:spPr>
        <p:txBody>
          <a:bodyPr wrap="square" lIns="0" tIns="0" rIns="0" bIns="0" rtlCol="0" anchor="t"/>
          <a:lstStyle/>
          <a:p>
            <a:pPr indent="0" marL="0">
              <a:buNone/>
            </a:pPr>
            <a:r>
              <a:rPr lang="en-US" sz="1600" b="1" dirty="0">
                <a:solidFill>
                  <a:srgbClr val="1B1F24"/>
                </a:solidFill>
                <a:latin typeface="Calibri" pitchFamily="34" charset="0"/>
                <a:ea typeface="Calibri" pitchFamily="34" charset="-122"/>
                <a:cs typeface="Calibri" pitchFamily="34" charset="-120"/>
              </a:rPr>
              <a:t>755 / 962 / 955 vs 1K</a:t>
            </a:r>
            <a:endParaRPr lang="en-US" sz="1600" dirty="0"/>
          </a:p>
        </p:txBody>
      </p:sp>
      <p:sp>
        <p:nvSpPr>
          <p:cNvPr id="7" name="Text 5"/>
          <p:cNvSpPr txBox="1"/>
          <p:nvPr/>
        </p:nvSpPr>
        <p:spPr>
          <a:xfrm>
            <a:off x="731520" y="2121408"/>
            <a:ext cx="3566160" cy="731520"/>
          </a:xfrm>
          <a:prstGeom prst="rect">
            <a:avLst/>
          </a:prstGeom>
          <a:noFill/>
          <a:ln/>
        </p:spPr>
        <p:txBody>
          <a:bodyPr wrap="square" lIns="0" tIns="0" rIns="0" bIns="0" rtlCol="0" anchor="t"/>
          <a:lstStyle/>
          <a:p>
            <a:pPr indent="0" marL="0">
              <a:buNone/>
            </a:pPr>
            <a:r>
              <a:rPr lang="en-US" sz="1200" dirty="0">
                <a:solidFill>
                  <a:srgbClr val="374151"/>
                </a:solidFill>
                <a:latin typeface="Calibri" pitchFamily="34" charset="0"/>
                <a:ea typeface="Calibri" pitchFamily="34" charset="-122"/>
                <a:cs typeface="Calibri" pitchFamily="34" charset="-120"/>
              </a:rPr>
              <a:t>The payment donut counts 1,000 prices, so the card's 755 is probably a distinct count, not missing data. Worth confirming.</a:t>
            </a:r>
            <a:endParaRPr lang="en-US" sz="1200" dirty="0"/>
          </a:p>
        </p:txBody>
      </p:sp>
      <p:sp>
        <p:nvSpPr>
          <p:cNvPr id="8" name="Shape 6"/>
          <p:cNvSpPr/>
          <p:nvPr/>
        </p:nvSpPr>
        <p:spPr>
          <a:xfrm>
            <a:off x="4663440" y="1463040"/>
            <a:ext cx="3931920" cy="1417320"/>
          </a:xfrm>
          <a:prstGeom prst="roundRect">
            <a:avLst>
              <a:gd name="adj" fmla="val 6452"/>
            </a:avLst>
          </a:prstGeom>
          <a:solidFill>
            <a:srgbClr val="F3F4F6"/>
          </a:solidFill>
          <a:ln w="12700">
            <a:solidFill>
              <a:srgbClr val="F3F4F6"/>
            </a:solidFill>
            <a:prstDash val="solid"/>
          </a:ln>
        </p:spPr>
      </p:sp>
      <p:sp>
        <p:nvSpPr>
          <p:cNvPr id="9" name="Text 7"/>
          <p:cNvSpPr txBox="1"/>
          <p:nvPr/>
        </p:nvSpPr>
        <p:spPr>
          <a:xfrm>
            <a:off x="4846320" y="1572768"/>
            <a:ext cx="3566160" cy="228600"/>
          </a:xfrm>
          <a:prstGeom prst="rect">
            <a:avLst/>
          </a:prstGeom>
          <a:noFill/>
          <a:ln/>
        </p:spPr>
        <p:txBody>
          <a:bodyPr wrap="square" lIns="0" tIns="0" rIns="0" bIns="0" rtlCol="0" anchor="t"/>
          <a:lstStyle/>
          <a:p>
            <a:pPr indent="0" marL="0">
              <a:buNone/>
            </a:pPr>
            <a:r>
              <a:rPr lang="en-US" sz="1100" b="1" dirty="0">
                <a:solidFill>
                  <a:srgbClr val="C8102E"/>
                </a:solidFill>
                <a:latin typeface="Calibri" pitchFamily="34" charset="0"/>
                <a:ea typeface="Calibri" pitchFamily="34" charset="-122"/>
                <a:cs typeface="Calibri" pitchFamily="34" charset="-120"/>
              </a:rPr>
              <a:t>SUM OF A PERCENT</a:t>
            </a:r>
            <a:endParaRPr lang="en-US" sz="1100" dirty="0"/>
          </a:p>
        </p:txBody>
      </p:sp>
      <p:sp>
        <p:nvSpPr>
          <p:cNvPr id="10" name="Text 8"/>
          <p:cNvSpPr txBox="1"/>
          <p:nvPr/>
        </p:nvSpPr>
        <p:spPr>
          <a:xfrm>
            <a:off x="4846320" y="1810512"/>
            <a:ext cx="3566160" cy="274320"/>
          </a:xfrm>
          <a:prstGeom prst="rect">
            <a:avLst/>
          </a:prstGeom>
          <a:noFill/>
          <a:ln/>
        </p:spPr>
        <p:txBody>
          <a:bodyPr wrap="square" lIns="0" tIns="0" rIns="0" bIns="0" rtlCol="0" anchor="t"/>
          <a:lstStyle/>
          <a:p>
            <a:pPr indent="0" marL="0">
              <a:buNone/>
            </a:pPr>
            <a:r>
              <a:rPr lang="en-US" sz="1600" b="1" dirty="0">
                <a:solidFill>
                  <a:srgbClr val="1B1F24"/>
                </a:solidFill>
                <a:latin typeface="Calibri" pitchFamily="34" charset="0"/>
                <a:ea typeface="Calibri" pitchFamily="34" charset="-122"/>
                <a:cs typeface="Calibri" pitchFamily="34" charset="-120"/>
              </a:rPr>
              <a:t>412K% total discount</a:t>
            </a:r>
            <a:endParaRPr lang="en-US" sz="1600" dirty="0"/>
          </a:p>
        </p:txBody>
      </p:sp>
      <p:sp>
        <p:nvSpPr>
          <p:cNvPr id="11" name="Text 9"/>
          <p:cNvSpPr txBox="1"/>
          <p:nvPr/>
        </p:nvSpPr>
        <p:spPr>
          <a:xfrm>
            <a:off x="4846320" y="2121408"/>
            <a:ext cx="3566160" cy="731520"/>
          </a:xfrm>
          <a:prstGeom prst="rect">
            <a:avLst/>
          </a:prstGeom>
          <a:noFill/>
          <a:ln/>
        </p:spPr>
        <p:txBody>
          <a:bodyPr wrap="square" lIns="0" tIns="0" rIns="0" bIns="0" rtlCol="0" anchor="t"/>
          <a:lstStyle/>
          <a:p>
            <a:pPr indent="0" marL="0">
              <a:buNone/>
            </a:pPr>
            <a:r>
              <a:rPr lang="en-US" sz="1200" dirty="0">
                <a:solidFill>
                  <a:srgbClr val="374151"/>
                </a:solidFill>
                <a:latin typeface="Calibri" pitchFamily="34" charset="0"/>
                <a:ea typeface="Calibri" pitchFamily="34" charset="-122"/>
                <a:cs typeface="Calibri" pitchFamily="34" charset="-120"/>
              </a:rPr>
              <a:t>Adding percentages is not meaningful: 412K over about 1,000 sales is roughly 412 per sale. Use average discount % and check units.</a:t>
            </a:r>
            <a:endParaRPr lang="en-US" sz="1200" dirty="0"/>
          </a:p>
        </p:txBody>
      </p:sp>
      <p:sp>
        <p:nvSpPr>
          <p:cNvPr id="12" name="Shape 10"/>
          <p:cNvSpPr/>
          <p:nvPr/>
        </p:nvSpPr>
        <p:spPr>
          <a:xfrm>
            <a:off x="548640" y="3017520"/>
            <a:ext cx="3931920" cy="1417320"/>
          </a:xfrm>
          <a:prstGeom prst="roundRect">
            <a:avLst>
              <a:gd name="adj" fmla="val 6452"/>
            </a:avLst>
          </a:prstGeom>
          <a:solidFill>
            <a:srgbClr val="F3F4F6"/>
          </a:solidFill>
          <a:ln w="12700">
            <a:solidFill>
              <a:srgbClr val="F3F4F6"/>
            </a:solidFill>
            <a:prstDash val="solid"/>
          </a:ln>
        </p:spPr>
      </p:sp>
      <p:sp>
        <p:nvSpPr>
          <p:cNvPr id="13" name="Text 11"/>
          <p:cNvSpPr txBox="1"/>
          <p:nvPr/>
        </p:nvSpPr>
        <p:spPr>
          <a:xfrm>
            <a:off x="731520" y="3127248"/>
            <a:ext cx="3566160" cy="228600"/>
          </a:xfrm>
          <a:prstGeom prst="rect">
            <a:avLst/>
          </a:prstGeom>
          <a:noFill/>
          <a:ln/>
        </p:spPr>
        <p:txBody>
          <a:bodyPr wrap="square" lIns="0" tIns="0" rIns="0" bIns="0" rtlCol="0" anchor="t"/>
          <a:lstStyle/>
          <a:p>
            <a:pPr indent="0" marL="0">
              <a:buNone/>
            </a:pPr>
            <a:r>
              <a:rPr lang="en-US" sz="1100" b="1" dirty="0">
                <a:solidFill>
                  <a:srgbClr val="C8102E"/>
                </a:solidFill>
                <a:latin typeface="Calibri" pitchFamily="34" charset="0"/>
                <a:ea typeface="Calibri" pitchFamily="34" charset="-122"/>
                <a:cs typeface="Calibri" pitchFamily="34" charset="-120"/>
              </a:rPr>
              <a:t>COUNT VS SUM</a:t>
            </a:r>
            <a:endParaRPr lang="en-US" sz="1100" dirty="0"/>
          </a:p>
        </p:txBody>
      </p:sp>
      <p:sp>
        <p:nvSpPr>
          <p:cNvPr id="14" name="Text 12"/>
          <p:cNvSpPr txBox="1"/>
          <p:nvPr/>
        </p:nvSpPr>
        <p:spPr>
          <a:xfrm>
            <a:off x="731520" y="3364992"/>
            <a:ext cx="3566160" cy="274320"/>
          </a:xfrm>
          <a:prstGeom prst="rect">
            <a:avLst/>
          </a:prstGeom>
          <a:noFill/>
          <a:ln/>
        </p:spPr>
        <p:txBody>
          <a:bodyPr wrap="square" lIns="0" tIns="0" rIns="0" bIns="0" rtlCol="0" anchor="t"/>
          <a:lstStyle/>
          <a:p>
            <a:pPr indent="0" marL="0">
              <a:buNone/>
            </a:pPr>
            <a:r>
              <a:rPr lang="en-US" sz="1600" b="1" dirty="0">
                <a:solidFill>
                  <a:srgbClr val="1B1F24"/>
                </a:solidFill>
                <a:latin typeface="Calibri" pitchFamily="34" charset="0"/>
                <a:ea typeface="Calibri" pitchFamily="34" charset="-122"/>
                <a:cs typeface="Calibri" pitchFamily="34" charset="-120"/>
              </a:rPr>
              <a:t>Same wording, different meaning</a:t>
            </a:r>
            <a:endParaRPr lang="en-US" sz="1600" dirty="0"/>
          </a:p>
        </p:txBody>
      </p:sp>
      <p:sp>
        <p:nvSpPr>
          <p:cNvPr id="15" name="Text 13"/>
          <p:cNvSpPr txBox="1"/>
          <p:nvPr/>
        </p:nvSpPr>
        <p:spPr>
          <a:xfrm>
            <a:off x="731520" y="3675888"/>
            <a:ext cx="3566160" cy="731520"/>
          </a:xfrm>
          <a:prstGeom prst="rect">
            <a:avLst/>
          </a:prstGeom>
          <a:noFill/>
          <a:ln/>
        </p:spPr>
        <p:txBody>
          <a:bodyPr wrap="square" lIns="0" tIns="0" rIns="0" bIns="0" rtlCol="0" anchor="t"/>
          <a:lstStyle/>
          <a:p>
            <a:pPr indent="0" marL="0">
              <a:buNone/>
            </a:pPr>
            <a:r>
              <a:rPr lang="en-US" sz="1200" dirty="0">
                <a:solidFill>
                  <a:srgbClr val="374151"/>
                </a:solidFill>
                <a:latin typeface="Calibri" pitchFamily="34" charset="0"/>
                <a:ea typeface="Calibri" pitchFamily="34" charset="-122"/>
                <a:cs typeface="Calibri" pitchFamily="34" charset="-120"/>
              </a:rPr>
              <a:t>Count of Units_Sold counts sales records (about 100 per model). Sum of Units_Sold adds the actual units, as in the top bar.</a:t>
            </a:r>
            <a:endParaRPr lang="en-US" sz="1200" dirty="0"/>
          </a:p>
        </p:txBody>
      </p:sp>
      <p:sp>
        <p:nvSpPr>
          <p:cNvPr id="16" name="Shape 14"/>
          <p:cNvSpPr/>
          <p:nvPr/>
        </p:nvSpPr>
        <p:spPr>
          <a:xfrm>
            <a:off x="4663440" y="3017520"/>
            <a:ext cx="3931920" cy="1417320"/>
          </a:xfrm>
          <a:prstGeom prst="roundRect">
            <a:avLst>
              <a:gd name="adj" fmla="val 6452"/>
            </a:avLst>
          </a:prstGeom>
          <a:solidFill>
            <a:srgbClr val="F3F4F6"/>
          </a:solidFill>
          <a:ln w="12700">
            <a:solidFill>
              <a:srgbClr val="F3F4F6"/>
            </a:solidFill>
            <a:prstDash val="solid"/>
          </a:ln>
        </p:spPr>
      </p:sp>
      <p:sp>
        <p:nvSpPr>
          <p:cNvPr id="17" name="Text 15"/>
          <p:cNvSpPr txBox="1"/>
          <p:nvPr/>
        </p:nvSpPr>
        <p:spPr>
          <a:xfrm>
            <a:off x="4846320" y="3127248"/>
            <a:ext cx="3566160" cy="228600"/>
          </a:xfrm>
          <a:prstGeom prst="rect">
            <a:avLst/>
          </a:prstGeom>
          <a:noFill/>
          <a:ln/>
        </p:spPr>
        <p:txBody>
          <a:bodyPr wrap="square" lIns="0" tIns="0" rIns="0" bIns="0" rtlCol="0" anchor="t"/>
          <a:lstStyle/>
          <a:p>
            <a:pPr indent="0" marL="0">
              <a:buNone/>
            </a:pPr>
            <a:r>
              <a:rPr lang="en-US" sz="1100" b="1" dirty="0">
                <a:solidFill>
                  <a:srgbClr val="C8102E"/>
                </a:solidFill>
                <a:latin typeface="Calibri" pitchFamily="34" charset="0"/>
                <a:ea typeface="Calibri" pitchFamily="34" charset="-122"/>
                <a:cs typeface="Calibri" pitchFamily="34" charset="-120"/>
              </a:rPr>
              <a:t>ROUNDING</a:t>
            </a:r>
            <a:endParaRPr lang="en-US" sz="1100" dirty="0"/>
          </a:p>
        </p:txBody>
      </p:sp>
      <p:sp>
        <p:nvSpPr>
          <p:cNvPr id="18" name="Text 16"/>
          <p:cNvSpPr txBox="1"/>
          <p:nvPr/>
        </p:nvSpPr>
        <p:spPr>
          <a:xfrm>
            <a:off x="4846320" y="3364992"/>
            <a:ext cx="3566160" cy="274320"/>
          </a:xfrm>
          <a:prstGeom prst="rect">
            <a:avLst/>
          </a:prstGeom>
          <a:noFill/>
          <a:ln/>
        </p:spPr>
        <p:txBody>
          <a:bodyPr wrap="square" lIns="0" tIns="0" rIns="0" bIns="0" rtlCol="0" anchor="t"/>
          <a:lstStyle/>
          <a:p>
            <a:pPr indent="0" marL="0">
              <a:buNone/>
            </a:pPr>
            <a:r>
              <a:rPr lang="en-US" sz="1600" b="1" dirty="0">
                <a:solidFill>
                  <a:srgbClr val="1B1F24"/>
                </a:solidFill>
                <a:latin typeface="Calibri" pitchFamily="34" charset="0"/>
                <a:ea typeface="Calibri" pitchFamily="34" charset="-122"/>
                <a:cs typeface="Calibri" pitchFamily="34" charset="-120"/>
              </a:rPr>
              <a:t>0bn / 1bn on the category pie</a:t>
            </a:r>
            <a:endParaRPr lang="en-US" sz="1600" dirty="0"/>
          </a:p>
        </p:txBody>
      </p:sp>
      <p:sp>
        <p:nvSpPr>
          <p:cNvPr id="19" name="Text 17"/>
          <p:cNvSpPr txBox="1"/>
          <p:nvPr/>
        </p:nvSpPr>
        <p:spPr>
          <a:xfrm>
            <a:off x="4846320" y="3675888"/>
            <a:ext cx="3566160" cy="731520"/>
          </a:xfrm>
          <a:prstGeom prst="rect">
            <a:avLst/>
          </a:prstGeom>
          <a:noFill/>
          <a:ln/>
        </p:spPr>
        <p:txBody>
          <a:bodyPr wrap="square" lIns="0" tIns="0" rIns="0" bIns="0" rtlCol="0" anchor="t"/>
          <a:lstStyle/>
          <a:p>
            <a:pPr indent="0" marL="0">
              <a:buNone/>
            </a:pPr>
            <a:r>
              <a:rPr lang="en-US" sz="1200" dirty="0">
                <a:solidFill>
                  <a:srgbClr val="374151"/>
                </a:solidFill>
                <a:latin typeface="Calibri" pitchFamily="34" charset="0"/>
                <a:ea typeface="Calibri" pitchFamily="34" charset="-122"/>
                <a:cs typeface="Calibri" pitchFamily="34" charset="-120"/>
              </a:rPr>
              <a:t>Labels round to whole billions, so tractors show 0bn. Trust the percentages: 73.79% versus 26.21%.</a:t>
            </a:r>
            <a:endParaRPr lang="en-US" sz="1200" dirty="0"/>
          </a:p>
        </p:txBody>
      </p:sp>
      <p:sp>
        <p:nvSpPr>
          <p:cNvPr id="20" name="Text 18"/>
          <p:cNvSpPr txBox="1"/>
          <p:nvPr/>
        </p:nvSpPr>
        <p:spPr>
          <a:xfrm>
            <a:off x="548640" y="4754880"/>
            <a:ext cx="45720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Source: Mahindra Cars &amp; Tractors Sales dashboard</a:t>
            </a:r>
            <a:endParaRPr lang="en-US" sz="1000" dirty="0"/>
          </a:p>
        </p:txBody>
      </p:sp>
      <p:sp>
        <p:nvSpPr>
          <p:cNvPr id="21" name="Shape 19"/>
          <p:cNvSpPr/>
          <p:nvPr/>
        </p:nvSpPr>
        <p:spPr>
          <a:xfrm>
            <a:off x="6903720" y="4727448"/>
            <a:ext cx="1188720" cy="292608"/>
          </a:xfrm>
          <a:prstGeom prst="roundRect">
            <a:avLst>
              <a:gd name="adj" fmla="val 25000"/>
            </a:avLst>
          </a:prstGeom>
          <a:solidFill>
            <a:srgbClr val="F3F4F6"/>
          </a:solidFill>
          <a:ln w="12700">
            <a:solidFill>
              <a:srgbClr val="F3F4F6"/>
            </a:solidFill>
            <a:prstDash val="solid"/>
          </a:ln>
        </p:spPr>
      </p:sp>
      <p:sp>
        <p:nvSpPr>
          <p:cNvPr id="22" name="Text 20">
            <a:hlinkClick r:id="rId1" tooltip="Back to agenda" action="ppaction://hlinksldjump"/>
          </p:cNvPr>
          <p:cNvSpPr txBox="1"/>
          <p:nvPr/>
        </p:nvSpPr>
        <p:spPr>
          <a:xfrm>
            <a:off x="6903720" y="4727448"/>
            <a:ext cx="1188720" cy="292608"/>
          </a:xfrm>
          <a:prstGeom prst="rect">
            <a:avLst/>
          </a:prstGeom>
          <a:noFill/>
          <a:ln/>
        </p:spPr>
        <p:txBody>
          <a:bodyPr wrap="square" lIns="0" tIns="0" rIns="0" bIns="0" rtlCol="0" anchor="ctr"/>
          <a:lstStyle/>
          <a:p>
            <a:pPr algn="ctr" indent="0" marL="0">
              <a:buNone/>
            </a:pPr>
            <a:r>
              <a:rPr lang="en-US" sz="1100" u="sng" dirty="0">
                <a:solidFill>
                  <a:srgbClr val="374151"/>
                </a:solidFill>
                <a:latin typeface="Calibri" pitchFamily="34" charset="0"/>
                <a:ea typeface="Calibri" pitchFamily="34" charset="-122"/>
                <a:cs typeface="Calibri" pitchFamily="34" charset="-120"/>
                <a:hlinkClick r:id="rId1"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F24"/>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5943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3" name="Text 1"/>
          <p:cNvSpPr txBox="1"/>
          <p:nvPr/>
        </p:nvSpPr>
        <p:spPr>
          <a:xfrm>
            <a:off x="548640" y="914400"/>
            <a:ext cx="8046720" cy="365760"/>
          </a:xfrm>
          <a:prstGeom prst="rect">
            <a:avLst/>
          </a:prstGeom>
          <a:noFill/>
          <a:ln/>
        </p:spPr>
        <p:txBody>
          <a:bodyPr wrap="square" lIns="0" tIns="0" rIns="0" bIns="0" rtlCol="0" anchor="ctr"/>
          <a:lstStyle/>
          <a:p>
            <a:pPr indent="0" marL="0">
              <a:buNone/>
            </a:pPr>
            <a:r>
              <a:rPr lang="en-US" sz="1600" dirty="0">
                <a:solidFill>
                  <a:srgbClr val="C9CED6"/>
                </a:solidFill>
                <a:latin typeface="Calibri" pitchFamily="34" charset="0"/>
                <a:ea typeface="Calibri" pitchFamily="34" charset="-122"/>
                <a:cs typeface="Calibri" pitchFamily="34" charset="-120"/>
              </a:rPr>
              <a:t>What the dashboard tells us</a:t>
            </a:r>
            <a:endParaRPr lang="en-US" sz="1600" dirty="0"/>
          </a:p>
        </p:txBody>
      </p:sp>
      <p:sp>
        <p:nvSpPr>
          <p:cNvPr id="4" name="Shape 2"/>
          <p:cNvSpPr/>
          <p:nvPr/>
        </p:nvSpPr>
        <p:spPr>
          <a:xfrm>
            <a:off x="548640" y="1444752"/>
            <a:ext cx="365760" cy="365760"/>
          </a:xfrm>
          <a:prstGeom prst="ellipse">
            <a:avLst/>
          </a:prstGeom>
          <a:solidFill>
            <a:srgbClr val="C8102E"/>
          </a:solidFill>
          <a:ln w="12700">
            <a:solidFill>
              <a:srgbClr val="C8102E"/>
            </a:solidFill>
            <a:prstDash val="solid"/>
          </a:ln>
        </p:spPr>
      </p:sp>
      <p:sp>
        <p:nvSpPr>
          <p:cNvPr id="5" name="Text 3"/>
          <p:cNvSpPr txBox="1"/>
          <p:nvPr/>
        </p:nvSpPr>
        <p:spPr>
          <a:xfrm>
            <a:off x="548640" y="14447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97280" y="1417320"/>
            <a:ext cx="4480560" cy="2743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Balanced model lineup</a:t>
            </a:r>
            <a:endParaRPr lang="en-US" sz="1500" dirty="0"/>
          </a:p>
        </p:txBody>
      </p:sp>
      <p:sp>
        <p:nvSpPr>
          <p:cNvPr id="7" name="Text 5"/>
          <p:cNvSpPr txBox="1"/>
          <p:nvPr/>
        </p:nvSpPr>
        <p:spPr>
          <a:xfrm>
            <a:off x="1097280" y="1691640"/>
            <a:ext cx="4480560" cy="457200"/>
          </a:xfrm>
          <a:prstGeom prst="rect">
            <a:avLst/>
          </a:prstGeom>
          <a:noFill/>
          <a:ln/>
        </p:spPr>
        <p:txBody>
          <a:bodyPr wrap="square" lIns="0" tIns="0" rIns="0" bIns="0" rtlCol="0" anchor="t"/>
          <a:lstStyle/>
          <a:p>
            <a:pPr indent="0" marL="0">
              <a:buNone/>
            </a:pPr>
            <a:r>
              <a:rPr lang="en-US" sz="1300" dirty="0">
                <a:solidFill>
                  <a:srgbClr val="D1D5DB"/>
                </a:solidFill>
                <a:latin typeface="Calibri" pitchFamily="34" charset="0"/>
                <a:ea typeface="Calibri" pitchFamily="34" charset="-122"/>
                <a:cs typeface="Calibri" pitchFamily="34" charset="-120"/>
              </a:rPr>
              <a:t>Records per model run 90–116; XUV700 leads and the top five split units almost evenly (≈18–22% each).</a:t>
            </a:r>
            <a:endParaRPr lang="en-US" sz="1300" dirty="0"/>
          </a:p>
        </p:txBody>
      </p:sp>
      <p:sp>
        <p:nvSpPr>
          <p:cNvPr id="8" name="Shape 6"/>
          <p:cNvSpPr/>
          <p:nvPr/>
        </p:nvSpPr>
        <p:spPr>
          <a:xfrm>
            <a:off x="548640" y="2221992"/>
            <a:ext cx="365760" cy="365760"/>
          </a:xfrm>
          <a:prstGeom prst="ellipse">
            <a:avLst/>
          </a:prstGeom>
          <a:solidFill>
            <a:srgbClr val="C8102E"/>
          </a:solidFill>
          <a:ln w="12700">
            <a:solidFill>
              <a:srgbClr val="C8102E"/>
            </a:solidFill>
            <a:prstDash val="solid"/>
          </a:ln>
        </p:spPr>
      </p:sp>
      <p:sp>
        <p:nvSpPr>
          <p:cNvPr id="9" name="Text 7"/>
          <p:cNvSpPr txBox="1"/>
          <p:nvPr/>
        </p:nvSpPr>
        <p:spPr>
          <a:xfrm>
            <a:off x="548640" y="222199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097280" y="2194560"/>
            <a:ext cx="4480560" cy="2743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Payments are evenly spread</a:t>
            </a:r>
            <a:endParaRPr lang="en-US" sz="1500" dirty="0"/>
          </a:p>
        </p:txBody>
      </p:sp>
      <p:sp>
        <p:nvSpPr>
          <p:cNvPr id="11" name="Text 9"/>
          <p:cNvSpPr txBox="1"/>
          <p:nvPr/>
        </p:nvSpPr>
        <p:spPr>
          <a:xfrm>
            <a:off x="1097280" y="2468880"/>
            <a:ext cx="4480560" cy="457200"/>
          </a:xfrm>
          <a:prstGeom prst="rect">
            <a:avLst/>
          </a:prstGeom>
          <a:noFill/>
          <a:ln/>
        </p:spPr>
        <p:txBody>
          <a:bodyPr wrap="square" lIns="0" tIns="0" rIns="0" bIns="0" rtlCol="0" anchor="t"/>
          <a:lstStyle/>
          <a:p>
            <a:pPr indent="0" marL="0">
              <a:buNone/>
            </a:pPr>
            <a:r>
              <a:rPr lang="en-US" sz="1300" dirty="0">
                <a:solidFill>
                  <a:srgbClr val="D1D5DB"/>
                </a:solidFill>
                <a:latin typeface="Calibri" pitchFamily="34" charset="0"/>
                <a:ea typeface="Calibri" pitchFamily="34" charset="-122"/>
                <a:cs typeface="Calibri" pitchFamily="34" charset="-120"/>
              </a:rPr>
              <a:t>Bank Finance (21.4%) and UPI (21.3%) lead, yet every method holds 17–21% of sales.</a:t>
            </a:r>
            <a:endParaRPr lang="en-US" sz="1300" dirty="0"/>
          </a:p>
        </p:txBody>
      </p:sp>
      <p:sp>
        <p:nvSpPr>
          <p:cNvPr id="12" name="Shape 10"/>
          <p:cNvSpPr/>
          <p:nvPr/>
        </p:nvSpPr>
        <p:spPr>
          <a:xfrm>
            <a:off x="548640" y="2999232"/>
            <a:ext cx="365760" cy="365760"/>
          </a:xfrm>
          <a:prstGeom prst="ellipse">
            <a:avLst/>
          </a:prstGeom>
          <a:solidFill>
            <a:srgbClr val="C8102E"/>
          </a:solidFill>
          <a:ln w="12700">
            <a:solidFill>
              <a:srgbClr val="C8102E"/>
            </a:solidFill>
            <a:prstDash val="solid"/>
          </a:ln>
        </p:spPr>
      </p:sp>
      <p:sp>
        <p:nvSpPr>
          <p:cNvPr id="13" name="Text 11"/>
          <p:cNvSpPr txBox="1"/>
          <p:nvPr/>
        </p:nvSpPr>
        <p:spPr>
          <a:xfrm>
            <a:off x="548640" y="29992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097280" y="2971800"/>
            <a:ext cx="4480560" cy="2743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Lucknow and Delhi set the pace</a:t>
            </a:r>
            <a:endParaRPr lang="en-US" sz="1500" dirty="0"/>
          </a:p>
        </p:txBody>
      </p:sp>
      <p:sp>
        <p:nvSpPr>
          <p:cNvPr id="15" name="Text 13"/>
          <p:cNvSpPr txBox="1"/>
          <p:nvPr/>
        </p:nvSpPr>
        <p:spPr>
          <a:xfrm>
            <a:off x="1097280" y="3246120"/>
            <a:ext cx="4480560" cy="457200"/>
          </a:xfrm>
          <a:prstGeom prst="rect">
            <a:avLst/>
          </a:prstGeom>
          <a:noFill/>
          <a:ln/>
        </p:spPr>
        <p:txBody>
          <a:bodyPr wrap="square" lIns="0" tIns="0" rIns="0" bIns="0" rtlCol="0" anchor="t"/>
          <a:lstStyle/>
          <a:p>
            <a:pPr indent="0" marL="0">
              <a:buNone/>
            </a:pPr>
            <a:r>
              <a:rPr lang="en-US" sz="1300" dirty="0">
                <a:solidFill>
                  <a:srgbClr val="D1D5DB"/>
                </a:solidFill>
                <a:latin typeface="Calibri" pitchFamily="34" charset="0"/>
                <a:ea typeface="Calibri" pitchFamily="34" charset="-122"/>
                <a:cs typeface="Calibri" pitchFamily="34" charset="-120"/>
              </a:rPr>
              <a:t>They top both discount activity and revenue; sales value falls ≈30% from Lucknow to Indore.</a:t>
            </a:r>
            <a:endParaRPr lang="en-US" sz="1300" dirty="0"/>
          </a:p>
        </p:txBody>
      </p:sp>
      <p:sp>
        <p:nvSpPr>
          <p:cNvPr id="16" name="Shape 14"/>
          <p:cNvSpPr/>
          <p:nvPr/>
        </p:nvSpPr>
        <p:spPr>
          <a:xfrm>
            <a:off x="548640" y="3776472"/>
            <a:ext cx="365760" cy="365760"/>
          </a:xfrm>
          <a:prstGeom prst="ellipse">
            <a:avLst/>
          </a:prstGeom>
          <a:solidFill>
            <a:srgbClr val="C8102E"/>
          </a:solidFill>
          <a:ln w="12700">
            <a:solidFill>
              <a:srgbClr val="C8102E"/>
            </a:solidFill>
            <a:prstDash val="solid"/>
          </a:ln>
        </p:spPr>
      </p:sp>
      <p:sp>
        <p:nvSpPr>
          <p:cNvPr id="17" name="Text 15"/>
          <p:cNvSpPr txBox="1"/>
          <p:nvPr/>
        </p:nvSpPr>
        <p:spPr>
          <a:xfrm>
            <a:off x="548640" y="377647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097280" y="3749040"/>
            <a:ext cx="4480560" cy="27432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Cars &amp; SUVs carry the revenue</a:t>
            </a:r>
            <a:endParaRPr lang="en-US" sz="1500" dirty="0"/>
          </a:p>
        </p:txBody>
      </p:sp>
      <p:sp>
        <p:nvSpPr>
          <p:cNvPr id="19" name="Text 17"/>
          <p:cNvSpPr txBox="1"/>
          <p:nvPr/>
        </p:nvSpPr>
        <p:spPr>
          <a:xfrm>
            <a:off x="1097280" y="4023360"/>
            <a:ext cx="4480560" cy="457200"/>
          </a:xfrm>
          <a:prstGeom prst="rect">
            <a:avLst/>
          </a:prstGeom>
          <a:noFill/>
          <a:ln/>
        </p:spPr>
        <p:txBody>
          <a:bodyPr wrap="square" lIns="0" tIns="0" rIns="0" bIns="0" rtlCol="0" anchor="t"/>
          <a:lstStyle/>
          <a:p>
            <a:pPr indent="0" marL="0">
              <a:buNone/>
            </a:pPr>
            <a:r>
              <a:rPr lang="en-US" sz="1300" dirty="0">
                <a:solidFill>
                  <a:srgbClr val="D1D5DB"/>
                </a:solidFill>
                <a:latin typeface="Calibri" pitchFamily="34" charset="0"/>
                <a:ea typeface="Calibri" pitchFamily="34" charset="-122"/>
                <a:cs typeface="Calibri" pitchFamily="34" charset="-120"/>
              </a:rPr>
              <a:t>73.79% of sales value versus 26.21% for tractors, roughly 2.8×.</a:t>
            </a:r>
            <a:endParaRPr lang="en-US" sz="1300" dirty="0"/>
          </a:p>
        </p:txBody>
      </p:sp>
      <p:sp>
        <p:nvSpPr>
          <p:cNvPr id="20" name="Shape 18"/>
          <p:cNvSpPr/>
          <p:nvPr/>
        </p:nvSpPr>
        <p:spPr>
          <a:xfrm>
            <a:off x="5943600" y="1417320"/>
            <a:ext cx="2651760" cy="3108960"/>
          </a:xfrm>
          <a:prstGeom prst="roundRect">
            <a:avLst>
              <a:gd name="adj" fmla="val 3448"/>
            </a:avLst>
          </a:prstGeom>
          <a:solidFill>
            <a:srgbClr val="2A2F36"/>
          </a:solidFill>
          <a:ln w="12700">
            <a:solidFill>
              <a:srgbClr val="2A2F36"/>
            </a:solidFill>
            <a:prstDash val="solid"/>
          </a:ln>
        </p:spPr>
      </p:sp>
      <p:sp>
        <p:nvSpPr>
          <p:cNvPr id="21" name="Text 19"/>
          <p:cNvSpPr txBox="1"/>
          <p:nvPr/>
        </p:nvSpPr>
        <p:spPr>
          <a:xfrm>
            <a:off x="6126480" y="1554480"/>
            <a:ext cx="2286000" cy="320040"/>
          </a:xfrm>
          <a:prstGeom prst="rect">
            <a:avLst/>
          </a:prstGeom>
          <a:noFill/>
          <a:ln/>
        </p:spPr>
        <p:txBody>
          <a:bodyPr wrap="square" lIns="0" tIns="0" rIns="0" bIns="0" rtlCol="0" anchor="t"/>
          <a:lstStyle/>
          <a:p>
            <a:pPr indent="0" marL="0">
              <a:buNone/>
            </a:pPr>
            <a:r>
              <a:rPr lang="en-US" sz="1600" b="1" dirty="0">
                <a:solidFill>
                  <a:srgbClr val="F2C14E"/>
                </a:solidFill>
                <a:latin typeface="Calibri" pitchFamily="34" charset="0"/>
                <a:ea typeface="Calibri" pitchFamily="34" charset="-122"/>
                <a:cs typeface="Calibri" pitchFamily="34" charset="-120"/>
              </a:rPr>
              <a:t>Next steps</a:t>
            </a:r>
            <a:endParaRPr lang="en-US" sz="1600" dirty="0"/>
          </a:p>
        </p:txBody>
      </p:sp>
      <p:sp>
        <p:nvSpPr>
          <p:cNvPr id="22" name="Text 20"/>
          <p:cNvSpPr txBox="1"/>
          <p:nvPr/>
        </p:nvSpPr>
        <p:spPr>
          <a:xfrm>
            <a:off x="6126480" y="1965960"/>
            <a:ext cx="2286000" cy="24688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Switch the discount KPI to an average %</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Confirm distinct vs total counts on the KPI cards</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Compare average discount % with revenue by city</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Check value per sale for tractors vs cars</a:t>
            </a:r>
            <a:endParaRPr lang="en-US" sz="1300" dirty="0"/>
          </a:p>
        </p:txBody>
      </p:sp>
      <p:sp>
        <p:nvSpPr>
          <p:cNvPr id="23" name="Shape 21"/>
          <p:cNvSpPr/>
          <p:nvPr/>
        </p:nvSpPr>
        <p:spPr>
          <a:xfrm>
            <a:off x="6903720" y="4727448"/>
            <a:ext cx="1188720" cy="292608"/>
          </a:xfrm>
          <a:prstGeom prst="roundRect">
            <a:avLst>
              <a:gd name="adj" fmla="val 25000"/>
            </a:avLst>
          </a:prstGeom>
          <a:solidFill>
            <a:srgbClr val="F3F4F6"/>
          </a:solidFill>
          <a:ln w="12700">
            <a:solidFill>
              <a:srgbClr val="F3F4F6"/>
            </a:solidFill>
            <a:prstDash val="solid"/>
          </a:ln>
        </p:spPr>
      </p:sp>
      <p:sp>
        <p:nvSpPr>
          <p:cNvPr id="24" name="Text 22">
            <a:hlinkClick r:id="rId1" tooltip="Back to agenda" action="ppaction://hlinksldjump"/>
          </p:cNvPr>
          <p:cNvSpPr txBox="1"/>
          <p:nvPr/>
        </p:nvSpPr>
        <p:spPr>
          <a:xfrm>
            <a:off x="6903720" y="4727448"/>
            <a:ext cx="1188720" cy="292608"/>
          </a:xfrm>
          <a:prstGeom prst="rect">
            <a:avLst/>
          </a:prstGeom>
          <a:noFill/>
          <a:ln/>
        </p:spPr>
        <p:txBody>
          <a:bodyPr wrap="square" lIns="0" tIns="0" rIns="0" bIns="0" rtlCol="0" anchor="ctr"/>
          <a:lstStyle/>
          <a:p>
            <a:pPr algn="ctr" indent="0" marL="0">
              <a:buNone/>
            </a:pPr>
            <a:r>
              <a:rPr lang="en-US" sz="1100" u="sng" dirty="0">
                <a:solidFill>
                  <a:srgbClr val="374151"/>
                </a:solidFill>
                <a:latin typeface="Calibri" pitchFamily="34" charset="0"/>
                <a:ea typeface="Calibri" pitchFamily="34" charset="-122"/>
                <a:cs typeface="Calibri" pitchFamily="34" charset="-120"/>
                <a:hlinkClick r:id="rId1" action="ppaction://hlinksldjump" tooltip="Back to agenda">
                  <a:extLst>
                    <a:ext uri="{A12FA001-AC4F-418D-AE19-62706E023703}">
                      <ahyp:hlinkClr xmlns:ahyp="http://schemas.microsoft.com/office/drawing/2018/hyperlinkcolor" val="tx"/>
                    </a:ext>
                  </a:extLst>
                </a:hlinkClick>
              </a:rPr>
              <a:t>← Agenda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Mahindra Cars &amp; Tractors Sales - Dashboard Walkthrough</dc:title>
  <dc:subject>PptxGenJS Presentation</dc:subject>
  <dc:creator>PptxGenJS</dc:creator>
  <cp:lastModifiedBy>PptxGenJS</cp:lastModifiedBy>
  <cp:revision>1</cp:revision>
  <dcterms:created xsi:type="dcterms:W3CDTF">2026-10-15T17:09:26Z</dcterms:created>
  <dcterms:modified xsi:type="dcterms:W3CDTF">2026-10-15T17:09:26Z</dcterms:modified>
</cp:coreProperties>
</file>